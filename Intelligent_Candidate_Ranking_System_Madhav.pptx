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Bernoru" charset="1" panose="00000A00000000000000"/>
      <p:regular r:id="rId12"/>
    </p:embeddedFont>
    <p:embeddedFont>
      <p:font typeface="Bricolage Grotesque Semi-Bold" charset="1" panose="020B0605040402000204"/>
      <p:regular r:id="rId13"/>
    </p:embeddedFont>
    <p:embeddedFont>
      <p:font typeface="Bricolage Grotesque Bold" charset="1" panose="020B0605040402000204"/>
      <p:regular r:id="rId14"/>
    </p:embeddedFont>
    <p:embeddedFont>
      <p:font typeface="Bricolage Grotesque" charset="1" panose="020B0605040402000204"/>
      <p:regular r:id="rId15"/>
    </p:embeddedFont>
    <p:embeddedFont>
      <p:font typeface="Arimo" charset="1" panose="020B0604020202020204"/>
      <p:regular r:id="rId16"/>
    </p:embeddedFont>
    <p:embeddedFont>
      <p:font typeface="Arimo Bold" charset="1" panose="020B0704020202020204"/>
      <p:regular r:id="rId17"/>
    </p:embeddedFont>
    <p:embeddedFont>
      <p:font typeface="Roboto Bold" charset="1" panose="02000000000000000000"/>
      <p:regular r:id="rId18"/>
    </p:embeddedFont>
    <p:embeddedFont>
      <p:font typeface="Roboto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11" Target="../media/image29.png" Type="http://schemas.openxmlformats.org/officeDocument/2006/relationships/image"/><Relationship Id="rId12" Target="../media/image30.svg" Type="http://schemas.openxmlformats.org/officeDocument/2006/relationships/image"/><Relationship Id="rId13" Target="../media/image31.png" Type="http://schemas.openxmlformats.org/officeDocument/2006/relationships/image"/><Relationship Id="rId14" Target="../media/image32.svg" Type="http://schemas.openxmlformats.org/officeDocument/2006/relationships/image"/><Relationship Id="rId15" Target="../media/image33.png" Type="http://schemas.openxmlformats.org/officeDocument/2006/relationships/image"/><Relationship Id="rId16" Target="../media/image34.svg" Type="http://schemas.openxmlformats.org/officeDocument/2006/relationships/image"/><Relationship Id="rId17" Target="../media/image35.png" Type="http://schemas.openxmlformats.org/officeDocument/2006/relationships/image"/><Relationship Id="rId18" Target="../media/image36.svg" Type="http://schemas.openxmlformats.org/officeDocument/2006/relationships/image"/><Relationship Id="rId19" Target="../media/image37.png" Type="http://schemas.openxmlformats.org/officeDocument/2006/relationships/image"/><Relationship Id="rId2" Target="../media/image20.png" Type="http://schemas.openxmlformats.org/officeDocument/2006/relationships/image"/><Relationship Id="rId20" Target="../media/image38.svg" Type="http://schemas.openxmlformats.org/officeDocument/2006/relationships/image"/><Relationship Id="rId21" Target="../media/image39.png" Type="http://schemas.openxmlformats.org/officeDocument/2006/relationships/image"/><Relationship Id="rId22" Target="../media/image40.svg" Type="http://schemas.openxmlformats.org/officeDocument/2006/relationships/image"/><Relationship Id="rId23" Target="../media/image41.png" Type="http://schemas.openxmlformats.org/officeDocument/2006/relationships/image"/><Relationship Id="rId24" Target="../media/image42.svg" Type="http://schemas.openxmlformats.org/officeDocument/2006/relationships/image"/><Relationship Id="rId25" Target="../media/image43.png" Type="http://schemas.openxmlformats.org/officeDocument/2006/relationships/image"/><Relationship Id="rId26" Target="../media/image44.svg" Type="http://schemas.openxmlformats.org/officeDocument/2006/relationships/image"/><Relationship Id="rId27" Target="../media/image45.png" Type="http://schemas.openxmlformats.org/officeDocument/2006/relationships/image"/><Relationship Id="rId28" Target="../media/image46.svg" Type="http://schemas.openxmlformats.org/officeDocument/2006/relationships/image"/><Relationship Id="rId29" Target="../media/image10.png" Type="http://schemas.openxmlformats.org/officeDocument/2006/relationships/image"/><Relationship Id="rId3" Target="../media/image21.svg" Type="http://schemas.openxmlformats.org/officeDocument/2006/relationships/image"/><Relationship Id="rId30" Target="../media/image1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sv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87625" y="9584310"/>
            <a:ext cx="3224456" cy="770350"/>
            <a:chOff x="0" y="0"/>
            <a:chExt cx="857688" cy="204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7688" cy="204909"/>
            </a:xfrm>
            <a:custGeom>
              <a:avLst/>
              <a:gdLst/>
              <a:ahLst/>
              <a:cxnLst/>
              <a:rect r="r" b="b" t="t" l="l"/>
              <a:pathLst>
                <a:path h="204909" w="857688">
                  <a:moveTo>
                    <a:pt x="0" y="0"/>
                  </a:moveTo>
                  <a:lnTo>
                    <a:pt x="857688" y="0"/>
                  </a:lnTo>
                  <a:lnTo>
                    <a:pt x="857688" y="204909"/>
                  </a:lnTo>
                  <a:lnTo>
                    <a:pt x="0" y="204909"/>
                  </a:lnTo>
                  <a:close/>
                </a:path>
              </a:pathLst>
            </a:custGeom>
            <a:solidFill>
              <a:srgbClr val="5AAEA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57688" cy="243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041697" y="7515006"/>
            <a:ext cx="16749829" cy="2952157"/>
          </a:xfrm>
          <a:custGeom>
            <a:avLst/>
            <a:gdLst/>
            <a:ahLst/>
            <a:cxnLst/>
            <a:rect r="r" b="b" t="t" l="l"/>
            <a:pathLst>
              <a:path h="2952157" w="16749829">
                <a:moveTo>
                  <a:pt x="0" y="0"/>
                </a:moveTo>
                <a:lnTo>
                  <a:pt x="16749830" y="0"/>
                </a:lnTo>
                <a:lnTo>
                  <a:pt x="16749830" y="2952157"/>
                </a:lnTo>
                <a:lnTo>
                  <a:pt x="0" y="2952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78951" y="1740353"/>
            <a:ext cx="7451046" cy="7049759"/>
            <a:chOff x="0" y="0"/>
            <a:chExt cx="886069" cy="8383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473" y="4136"/>
              <a:ext cx="877122" cy="830076"/>
            </a:xfrm>
            <a:custGeom>
              <a:avLst/>
              <a:gdLst/>
              <a:ahLst/>
              <a:cxnLst/>
              <a:rect r="r" b="b" t="t" l="l"/>
              <a:pathLst>
                <a:path h="830076" w="877122">
                  <a:moveTo>
                    <a:pt x="446109" y="3005"/>
                  </a:moveTo>
                  <a:lnTo>
                    <a:pt x="874048" y="407897"/>
                  </a:lnTo>
                  <a:cubicBezTo>
                    <a:pt x="876011" y="409754"/>
                    <a:pt x="877123" y="412336"/>
                    <a:pt x="877123" y="415038"/>
                  </a:cubicBezTo>
                  <a:cubicBezTo>
                    <a:pt x="877123" y="417740"/>
                    <a:pt x="876011" y="420322"/>
                    <a:pt x="874048" y="422179"/>
                  </a:cubicBezTo>
                  <a:lnTo>
                    <a:pt x="446109" y="827071"/>
                  </a:lnTo>
                  <a:cubicBezTo>
                    <a:pt x="441875" y="831078"/>
                    <a:pt x="435248" y="831078"/>
                    <a:pt x="431014" y="827071"/>
                  </a:cubicBezTo>
                  <a:lnTo>
                    <a:pt x="3075" y="422179"/>
                  </a:lnTo>
                  <a:cubicBezTo>
                    <a:pt x="1112" y="420322"/>
                    <a:pt x="0" y="417740"/>
                    <a:pt x="0" y="415038"/>
                  </a:cubicBezTo>
                  <a:cubicBezTo>
                    <a:pt x="0" y="412336"/>
                    <a:pt x="1112" y="409754"/>
                    <a:pt x="3075" y="407897"/>
                  </a:cubicBezTo>
                  <a:lnTo>
                    <a:pt x="431014" y="3005"/>
                  </a:lnTo>
                  <a:cubicBezTo>
                    <a:pt x="435248" y="-1001"/>
                    <a:pt x="441875" y="-1001"/>
                    <a:pt x="446109" y="3005"/>
                  </a:cubicBezTo>
                  <a:close/>
                </a:path>
              </a:pathLst>
            </a:custGeom>
            <a:blipFill>
              <a:blip r:embed="rId4"/>
              <a:stretch>
                <a:fillRect l="-38641" t="44" r="-38641" b="44"/>
              </a:stretch>
            </a:blipFill>
            <a:ln w="238125" cap="sq">
              <a:solidFill>
                <a:srgbClr val="075B5E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0" y="5936056"/>
            <a:ext cx="8979467" cy="1172968"/>
            <a:chOff x="0" y="0"/>
            <a:chExt cx="2364962" cy="3089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64962" cy="308930"/>
            </a:xfrm>
            <a:custGeom>
              <a:avLst/>
              <a:gdLst/>
              <a:ahLst/>
              <a:cxnLst/>
              <a:rect r="r" b="b" t="t" l="l"/>
              <a:pathLst>
                <a:path h="308930" w="2364962">
                  <a:moveTo>
                    <a:pt x="8622" y="0"/>
                  </a:moveTo>
                  <a:lnTo>
                    <a:pt x="2356341" y="0"/>
                  </a:lnTo>
                  <a:cubicBezTo>
                    <a:pt x="2361102" y="0"/>
                    <a:pt x="2364962" y="3860"/>
                    <a:pt x="2364962" y="8622"/>
                  </a:cubicBezTo>
                  <a:lnTo>
                    <a:pt x="2364962" y="300308"/>
                  </a:lnTo>
                  <a:cubicBezTo>
                    <a:pt x="2364962" y="305070"/>
                    <a:pt x="2361102" y="308930"/>
                    <a:pt x="2356341" y="308930"/>
                  </a:cubicBezTo>
                  <a:lnTo>
                    <a:pt x="8622" y="308930"/>
                  </a:lnTo>
                  <a:cubicBezTo>
                    <a:pt x="3860" y="308930"/>
                    <a:pt x="0" y="305070"/>
                    <a:pt x="0" y="300308"/>
                  </a:cubicBezTo>
                  <a:lnTo>
                    <a:pt x="0" y="8622"/>
                  </a:lnTo>
                  <a:cubicBezTo>
                    <a:pt x="0" y="3860"/>
                    <a:pt x="3860" y="0"/>
                    <a:pt x="8622" y="0"/>
                  </a:cubicBezTo>
                  <a:close/>
                </a:path>
              </a:pathLst>
            </a:custGeom>
            <a:solidFill>
              <a:srgbClr val="075B5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364962" cy="347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true" rot="0">
            <a:off x="14263743" y="-98810"/>
            <a:ext cx="4128777" cy="4284075"/>
          </a:xfrm>
          <a:custGeom>
            <a:avLst/>
            <a:gdLst/>
            <a:ahLst/>
            <a:cxnLst/>
            <a:rect r="r" b="b" t="t" l="l"/>
            <a:pathLst>
              <a:path h="4284075" w="4128777">
                <a:moveTo>
                  <a:pt x="0" y="4284075"/>
                </a:moveTo>
                <a:lnTo>
                  <a:pt x="4128777" y="4284075"/>
                </a:lnTo>
                <a:lnTo>
                  <a:pt x="4128777" y="0"/>
                </a:lnTo>
                <a:lnTo>
                  <a:pt x="0" y="0"/>
                </a:lnTo>
                <a:lnTo>
                  <a:pt x="0" y="428407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87942" y="2004319"/>
            <a:ext cx="1697773" cy="575121"/>
          </a:xfrm>
          <a:custGeom>
            <a:avLst/>
            <a:gdLst/>
            <a:ahLst/>
            <a:cxnLst/>
            <a:rect r="r" b="b" t="t" l="l"/>
            <a:pathLst>
              <a:path h="575121" w="1697773">
                <a:moveTo>
                  <a:pt x="0" y="0"/>
                </a:moveTo>
                <a:lnTo>
                  <a:pt x="1697773" y="0"/>
                </a:lnTo>
                <a:lnTo>
                  <a:pt x="1697773" y="575121"/>
                </a:lnTo>
                <a:lnTo>
                  <a:pt x="0" y="5751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439474" y="7734704"/>
            <a:ext cx="2334408" cy="469800"/>
          </a:xfrm>
          <a:custGeom>
            <a:avLst/>
            <a:gdLst/>
            <a:ahLst/>
            <a:cxnLst/>
            <a:rect r="r" b="b" t="t" l="l"/>
            <a:pathLst>
              <a:path h="469800" w="2334408">
                <a:moveTo>
                  <a:pt x="0" y="0"/>
                </a:moveTo>
                <a:lnTo>
                  <a:pt x="2334408" y="0"/>
                </a:lnTo>
                <a:lnTo>
                  <a:pt x="2334408" y="469799"/>
                </a:lnTo>
                <a:lnTo>
                  <a:pt x="0" y="4697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144000" y="2259734"/>
            <a:ext cx="8979467" cy="336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9"/>
              </a:lnSpc>
            </a:pPr>
            <a:r>
              <a:rPr lang="en-US" sz="7499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</a:rPr>
              <a:t>INTELLIGENT CANDIDATE</a:t>
            </a:r>
            <a:r>
              <a:rPr lang="en-US" sz="7499">
                <a:solidFill>
                  <a:srgbClr val="075B5E"/>
                </a:solidFill>
                <a:latin typeface="Bernoru"/>
                <a:ea typeface="Bernoru"/>
                <a:cs typeface="Bernoru"/>
                <a:sym typeface="Bernoru"/>
              </a:rPr>
              <a:t> RANKING SYSTEM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33857" y="6065264"/>
            <a:ext cx="8571324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FFFFFF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Ranking 100,000 candidates for a Senior AI Engineer</a:t>
            </a:r>
          </a:p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FFFFFF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role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85488" y="7375724"/>
            <a:ext cx="5103191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PRESENTED BY: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Madhav Mittal</a:t>
            </a:r>
            <a:r>
              <a:rPr lang="en-US" sz="24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(Solo Participant)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40373" y="7379638"/>
            <a:ext cx="4052148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India Runs Data &amp; AI Challenge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9509" y="4038132"/>
            <a:ext cx="7374491" cy="2390607"/>
            <a:chOff x="0" y="0"/>
            <a:chExt cx="1942253" cy="629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2253" cy="629625"/>
            </a:xfrm>
            <a:custGeom>
              <a:avLst/>
              <a:gdLst/>
              <a:ahLst/>
              <a:cxnLst/>
              <a:rect r="r" b="b" t="t" l="l"/>
              <a:pathLst>
                <a:path h="629625" w="1942253">
                  <a:moveTo>
                    <a:pt x="30445" y="0"/>
                  </a:moveTo>
                  <a:lnTo>
                    <a:pt x="1911808" y="0"/>
                  </a:lnTo>
                  <a:cubicBezTo>
                    <a:pt x="1928622" y="0"/>
                    <a:pt x="1942253" y="13631"/>
                    <a:pt x="1942253" y="30445"/>
                  </a:cubicBezTo>
                  <a:lnTo>
                    <a:pt x="1942253" y="599180"/>
                  </a:lnTo>
                  <a:cubicBezTo>
                    <a:pt x="1942253" y="607254"/>
                    <a:pt x="1939045" y="614998"/>
                    <a:pt x="1933336" y="620708"/>
                  </a:cubicBezTo>
                  <a:cubicBezTo>
                    <a:pt x="1927626" y="626417"/>
                    <a:pt x="1919882" y="629625"/>
                    <a:pt x="1911808" y="629625"/>
                  </a:cubicBezTo>
                  <a:lnTo>
                    <a:pt x="30445" y="629625"/>
                  </a:lnTo>
                  <a:cubicBezTo>
                    <a:pt x="22370" y="629625"/>
                    <a:pt x="14627" y="626417"/>
                    <a:pt x="8917" y="620708"/>
                  </a:cubicBezTo>
                  <a:cubicBezTo>
                    <a:pt x="3208" y="614998"/>
                    <a:pt x="0" y="607254"/>
                    <a:pt x="0" y="599180"/>
                  </a:cubicBezTo>
                  <a:lnTo>
                    <a:pt x="0" y="30445"/>
                  </a:lnTo>
                  <a:cubicBezTo>
                    <a:pt x="0" y="22370"/>
                    <a:pt x="3208" y="14627"/>
                    <a:pt x="8917" y="8917"/>
                  </a:cubicBezTo>
                  <a:cubicBezTo>
                    <a:pt x="14627" y="3208"/>
                    <a:pt x="22370" y="0"/>
                    <a:pt x="30445" y="0"/>
                  </a:cubicBezTo>
                  <a:close/>
                </a:path>
              </a:pathLst>
            </a:custGeom>
            <a:ln w="47625" cap="rnd">
              <a:solidFill>
                <a:srgbClr val="075B5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42253" cy="667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69968" y="4904739"/>
            <a:ext cx="6765787" cy="136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2" indent="-226696" lvl="1">
              <a:lnSpc>
                <a:spcPts val="2772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Recruiters</a:t>
            </a:r>
            <a:r>
              <a:rPr lang="en-US" sz="21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go through 100K profiles manually</a:t>
            </a:r>
          </a:p>
          <a:p>
            <a:pPr algn="just" marL="453392" indent="-226696" lvl="1">
              <a:lnSpc>
                <a:spcPts val="2772"/>
              </a:lnSpc>
              <a:buFont typeface="Arial"/>
              <a:buChar char="•"/>
            </a:pPr>
            <a:r>
              <a:rPr lang="en-US" sz="21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Keyword filters miss qualified candidates</a:t>
            </a:r>
          </a:p>
          <a:p>
            <a:pPr algn="just" marL="453392" indent="-226696" lvl="1">
              <a:lnSpc>
                <a:spcPts val="2772"/>
              </a:lnSpc>
              <a:buFont typeface="Arial"/>
              <a:buChar char="•"/>
            </a:pPr>
            <a:r>
              <a:rPr lang="en-US" sz="21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Can't detect fake/honeypot profiles</a:t>
            </a:r>
          </a:p>
          <a:p>
            <a:pPr algn="just" marL="0" indent="0" lvl="0">
              <a:lnSpc>
                <a:spcPts val="277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069968" y="4299930"/>
            <a:ext cx="6499591" cy="543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0"/>
              </a:lnSpc>
            </a:pPr>
            <a:r>
              <a:rPr lang="en-US" b="true" sz="3458">
                <a:solidFill>
                  <a:srgbClr val="075B5E"/>
                </a:solidFill>
                <a:latin typeface="Arimo Bold"/>
                <a:ea typeface="Arimo Bold"/>
                <a:cs typeface="Arimo Bold"/>
                <a:sym typeface="Arimo Bold"/>
              </a:rPr>
              <a:t> Problem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2522198">
            <a:off x="9516195" y="-4519340"/>
            <a:ext cx="6677314" cy="7675074"/>
          </a:xfrm>
          <a:custGeom>
            <a:avLst/>
            <a:gdLst/>
            <a:ahLst/>
            <a:cxnLst/>
            <a:rect r="r" b="b" t="t" l="l"/>
            <a:pathLst>
              <a:path h="7675074" w="6677314">
                <a:moveTo>
                  <a:pt x="0" y="0"/>
                </a:moveTo>
                <a:lnTo>
                  <a:pt x="6677314" y="0"/>
                </a:lnTo>
                <a:lnTo>
                  <a:pt x="6677314" y="7675074"/>
                </a:lnTo>
                <a:lnTo>
                  <a:pt x="0" y="76750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442460">
            <a:off x="-6532504" y="3705078"/>
            <a:ext cx="7683897" cy="8832065"/>
          </a:xfrm>
          <a:custGeom>
            <a:avLst/>
            <a:gdLst/>
            <a:ahLst/>
            <a:cxnLst/>
            <a:rect r="r" b="b" t="t" l="l"/>
            <a:pathLst>
              <a:path h="8832065" w="7683897">
                <a:moveTo>
                  <a:pt x="0" y="0"/>
                </a:moveTo>
                <a:lnTo>
                  <a:pt x="7683896" y="0"/>
                </a:lnTo>
                <a:lnTo>
                  <a:pt x="7683896" y="8832065"/>
                </a:lnTo>
                <a:lnTo>
                  <a:pt x="0" y="88320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137475">
            <a:off x="15028999" y="7533380"/>
            <a:ext cx="7683897" cy="8832065"/>
          </a:xfrm>
          <a:custGeom>
            <a:avLst/>
            <a:gdLst/>
            <a:ahLst/>
            <a:cxnLst/>
            <a:rect r="r" b="b" t="t" l="l"/>
            <a:pathLst>
              <a:path h="8832065" w="7683897">
                <a:moveTo>
                  <a:pt x="0" y="0"/>
                </a:moveTo>
                <a:lnTo>
                  <a:pt x="7683897" y="0"/>
                </a:lnTo>
                <a:lnTo>
                  <a:pt x="7683897" y="8832066"/>
                </a:lnTo>
                <a:lnTo>
                  <a:pt x="0" y="88320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274294" y="4038132"/>
            <a:ext cx="7506154" cy="2390607"/>
            <a:chOff x="0" y="0"/>
            <a:chExt cx="1976930" cy="6296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76930" cy="629625"/>
            </a:xfrm>
            <a:custGeom>
              <a:avLst/>
              <a:gdLst/>
              <a:ahLst/>
              <a:cxnLst/>
              <a:rect r="r" b="b" t="t" l="l"/>
              <a:pathLst>
                <a:path h="629625" w="1976930">
                  <a:moveTo>
                    <a:pt x="29911" y="0"/>
                  </a:moveTo>
                  <a:lnTo>
                    <a:pt x="1947019" y="0"/>
                  </a:lnTo>
                  <a:cubicBezTo>
                    <a:pt x="1954952" y="0"/>
                    <a:pt x="1962559" y="3151"/>
                    <a:pt x="1968169" y="8761"/>
                  </a:cubicBezTo>
                  <a:cubicBezTo>
                    <a:pt x="1973778" y="14370"/>
                    <a:pt x="1976930" y="21978"/>
                    <a:pt x="1976930" y="29911"/>
                  </a:cubicBezTo>
                  <a:lnTo>
                    <a:pt x="1976930" y="599714"/>
                  </a:lnTo>
                  <a:cubicBezTo>
                    <a:pt x="1976930" y="607647"/>
                    <a:pt x="1973778" y="615255"/>
                    <a:pt x="1968169" y="620864"/>
                  </a:cubicBezTo>
                  <a:cubicBezTo>
                    <a:pt x="1962559" y="626474"/>
                    <a:pt x="1954952" y="629625"/>
                    <a:pt x="1947019" y="629625"/>
                  </a:cubicBezTo>
                  <a:lnTo>
                    <a:pt x="29911" y="629625"/>
                  </a:lnTo>
                  <a:cubicBezTo>
                    <a:pt x="21978" y="629625"/>
                    <a:pt x="14370" y="626474"/>
                    <a:pt x="8761" y="620864"/>
                  </a:cubicBezTo>
                  <a:cubicBezTo>
                    <a:pt x="3151" y="615255"/>
                    <a:pt x="0" y="607647"/>
                    <a:pt x="0" y="599714"/>
                  </a:cubicBezTo>
                  <a:lnTo>
                    <a:pt x="0" y="29911"/>
                  </a:lnTo>
                  <a:cubicBezTo>
                    <a:pt x="0" y="21978"/>
                    <a:pt x="3151" y="14370"/>
                    <a:pt x="8761" y="8761"/>
                  </a:cubicBezTo>
                  <a:cubicBezTo>
                    <a:pt x="14370" y="3151"/>
                    <a:pt x="21978" y="0"/>
                    <a:pt x="29911" y="0"/>
                  </a:cubicBezTo>
                  <a:close/>
                </a:path>
              </a:pathLst>
            </a:custGeom>
            <a:ln w="47625" cap="rnd">
              <a:solidFill>
                <a:srgbClr val="075B5E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76930" cy="667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69509" y="6695439"/>
            <a:ext cx="14748983" cy="2211931"/>
            <a:chOff x="0" y="0"/>
            <a:chExt cx="3884506" cy="58256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84506" cy="582566"/>
            </a:xfrm>
            <a:custGeom>
              <a:avLst/>
              <a:gdLst/>
              <a:ahLst/>
              <a:cxnLst/>
              <a:rect r="r" b="b" t="t" l="l"/>
              <a:pathLst>
                <a:path h="582566" w="3884506">
                  <a:moveTo>
                    <a:pt x="15222" y="0"/>
                  </a:moveTo>
                  <a:lnTo>
                    <a:pt x="3869283" y="0"/>
                  </a:lnTo>
                  <a:cubicBezTo>
                    <a:pt x="3877690" y="0"/>
                    <a:pt x="3884506" y="6815"/>
                    <a:pt x="3884506" y="15222"/>
                  </a:cubicBezTo>
                  <a:lnTo>
                    <a:pt x="3884506" y="567344"/>
                  </a:lnTo>
                  <a:cubicBezTo>
                    <a:pt x="3884506" y="575751"/>
                    <a:pt x="3877690" y="582566"/>
                    <a:pt x="3869283" y="582566"/>
                  </a:cubicBezTo>
                  <a:lnTo>
                    <a:pt x="15222" y="582566"/>
                  </a:lnTo>
                  <a:cubicBezTo>
                    <a:pt x="6815" y="582566"/>
                    <a:pt x="0" y="575751"/>
                    <a:pt x="0" y="567344"/>
                  </a:cubicBezTo>
                  <a:lnTo>
                    <a:pt x="0" y="15222"/>
                  </a:lnTo>
                  <a:cubicBezTo>
                    <a:pt x="0" y="6815"/>
                    <a:pt x="6815" y="0"/>
                    <a:pt x="15222" y="0"/>
                  </a:cubicBezTo>
                  <a:close/>
                </a:path>
              </a:pathLst>
            </a:custGeom>
            <a:ln w="47625" cap="rnd">
              <a:solidFill>
                <a:srgbClr val="075B5E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884506" cy="620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746201" y="4877963"/>
            <a:ext cx="6726805" cy="136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2" indent="-226696" lvl="1">
              <a:lnSpc>
                <a:spcPts val="2772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Multi-signal scoring across 5 dimensions</a:t>
            </a:r>
          </a:p>
          <a:p>
            <a:pPr algn="just" marL="453392" indent="-226696" lvl="1">
              <a:lnSpc>
                <a:spcPts val="2772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Honeypot + keyword stuff</a:t>
            </a: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er detection</a:t>
            </a:r>
          </a:p>
          <a:p>
            <a:pPr algn="just" marL="453392" indent="-226696" lvl="1">
              <a:lnSpc>
                <a:spcPts val="2772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23 behavior</a:t>
            </a: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al signals from redrob platform</a:t>
            </a:r>
          </a:p>
          <a:p>
            <a:pPr algn="just" marL="0" indent="0" lvl="0">
              <a:lnSpc>
                <a:spcPts val="2772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683218" y="4299930"/>
            <a:ext cx="6852770" cy="543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0"/>
              </a:lnSpc>
            </a:pPr>
            <a:r>
              <a:rPr lang="en-US" b="true" sz="3458">
                <a:solidFill>
                  <a:srgbClr val="075B5E"/>
                </a:solidFill>
                <a:latin typeface="Arimo Bold"/>
                <a:ea typeface="Arimo Bold"/>
                <a:cs typeface="Arimo Bold"/>
                <a:sym typeface="Arimo Bold"/>
              </a:rPr>
              <a:t>Our Solution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00538" y="7539199"/>
            <a:ext cx="13645815" cy="136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2" indent="-226696" lvl="1">
              <a:lnSpc>
                <a:spcPts val="2772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Top 100 candidates ranked with scores</a:t>
            </a:r>
          </a:p>
          <a:p>
            <a:pPr algn="just" marL="453392" indent="-226696" lvl="1">
              <a:lnSpc>
                <a:spcPts val="2772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Human-readable reasoning per candidate</a:t>
            </a:r>
          </a:p>
          <a:p>
            <a:pPr algn="just" marL="453392" indent="-226696" lvl="1">
              <a:lnSpc>
                <a:spcPts val="2772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Runs in under 60 seconds on CPU</a:t>
            </a:r>
          </a:p>
          <a:p>
            <a:pPr algn="just" marL="0" indent="0" lvl="0">
              <a:lnSpc>
                <a:spcPts val="2772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430611" y="6938935"/>
            <a:ext cx="13465136" cy="543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0"/>
              </a:lnSpc>
            </a:pPr>
            <a:r>
              <a:rPr lang="en-US" b="true" sz="3458">
                <a:solidFill>
                  <a:srgbClr val="075B5E"/>
                </a:solidFill>
                <a:latin typeface="Arimo Bold"/>
                <a:ea typeface="Arimo Bold"/>
                <a:cs typeface="Arimo Bold"/>
                <a:sym typeface="Arimo Bold"/>
              </a:rPr>
              <a:t> Output</a:t>
            </a:r>
          </a:p>
        </p:txBody>
      </p:sp>
      <p:grpSp>
        <p:nvGrpSpPr>
          <p:cNvPr name="Group 20" id="20"/>
          <p:cNvGrpSpPr/>
          <p:nvPr/>
        </p:nvGrpSpPr>
        <p:grpSpPr>
          <a:xfrm rot="-2700000">
            <a:off x="-3955171" y="9405417"/>
            <a:ext cx="7166904" cy="5969095"/>
            <a:chOff x="0" y="0"/>
            <a:chExt cx="1005388" cy="83735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5388" cy="837357"/>
            </a:xfrm>
            <a:custGeom>
              <a:avLst/>
              <a:gdLst/>
              <a:ahLst/>
              <a:cxnLst/>
              <a:rect r="r" b="b" t="t" l="l"/>
              <a:pathLst>
                <a:path h="837357" w="1005388">
                  <a:moveTo>
                    <a:pt x="105863" y="0"/>
                  </a:moveTo>
                  <a:lnTo>
                    <a:pt x="899525" y="0"/>
                  </a:lnTo>
                  <a:cubicBezTo>
                    <a:pt x="957992" y="0"/>
                    <a:pt x="1005388" y="47396"/>
                    <a:pt x="1005388" y="105863"/>
                  </a:cubicBezTo>
                  <a:lnTo>
                    <a:pt x="1005388" y="731494"/>
                  </a:lnTo>
                  <a:cubicBezTo>
                    <a:pt x="1005388" y="759571"/>
                    <a:pt x="994235" y="786498"/>
                    <a:pt x="974382" y="806351"/>
                  </a:cubicBezTo>
                  <a:cubicBezTo>
                    <a:pt x="954529" y="826204"/>
                    <a:pt x="927602" y="837357"/>
                    <a:pt x="899525" y="837357"/>
                  </a:cubicBezTo>
                  <a:lnTo>
                    <a:pt x="105863" y="837357"/>
                  </a:lnTo>
                  <a:cubicBezTo>
                    <a:pt x="47396" y="837357"/>
                    <a:pt x="0" y="789961"/>
                    <a:pt x="0" y="731494"/>
                  </a:cubicBezTo>
                  <a:lnTo>
                    <a:pt x="0" y="105863"/>
                  </a:lnTo>
                  <a:cubicBezTo>
                    <a:pt x="0" y="47396"/>
                    <a:pt x="47396" y="0"/>
                    <a:pt x="105863" y="0"/>
                  </a:cubicBezTo>
                  <a:close/>
                </a:path>
              </a:pathLst>
            </a:custGeom>
            <a:solidFill>
              <a:srgbClr val="075B5E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05388" cy="875457"/>
            </a:xfrm>
            <a:prstGeom prst="rect">
              <a:avLst/>
            </a:prstGeom>
          </p:spPr>
          <p:txBody>
            <a:bodyPr anchor="ctr" rtlCol="false" tIns="47447" lIns="47447" bIns="47447" rIns="47447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2700000">
            <a:off x="-3450003" y="10262099"/>
            <a:ext cx="7166904" cy="5969095"/>
            <a:chOff x="0" y="0"/>
            <a:chExt cx="1005388" cy="8373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5388" cy="837357"/>
            </a:xfrm>
            <a:custGeom>
              <a:avLst/>
              <a:gdLst/>
              <a:ahLst/>
              <a:cxnLst/>
              <a:rect r="r" b="b" t="t" l="l"/>
              <a:pathLst>
                <a:path h="837357" w="1005388">
                  <a:moveTo>
                    <a:pt x="105863" y="0"/>
                  </a:moveTo>
                  <a:lnTo>
                    <a:pt x="899525" y="0"/>
                  </a:lnTo>
                  <a:cubicBezTo>
                    <a:pt x="957992" y="0"/>
                    <a:pt x="1005388" y="47396"/>
                    <a:pt x="1005388" y="105863"/>
                  </a:cubicBezTo>
                  <a:lnTo>
                    <a:pt x="1005388" y="731494"/>
                  </a:lnTo>
                  <a:cubicBezTo>
                    <a:pt x="1005388" y="759571"/>
                    <a:pt x="994235" y="786498"/>
                    <a:pt x="974382" y="806351"/>
                  </a:cubicBezTo>
                  <a:cubicBezTo>
                    <a:pt x="954529" y="826204"/>
                    <a:pt x="927602" y="837357"/>
                    <a:pt x="899525" y="837357"/>
                  </a:cubicBezTo>
                  <a:lnTo>
                    <a:pt x="105863" y="837357"/>
                  </a:lnTo>
                  <a:cubicBezTo>
                    <a:pt x="47396" y="837357"/>
                    <a:pt x="0" y="789961"/>
                    <a:pt x="0" y="731494"/>
                  </a:cubicBezTo>
                  <a:lnTo>
                    <a:pt x="0" y="105863"/>
                  </a:lnTo>
                  <a:cubicBezTo>
                    <a:pt x="0" y="47396"/>
                    <a:pt x="47396" y="0"/>
                    <a:pt x="105863" y="0"/>
                  </a:cubicBezTo>
                  <a:close/>
                </a:path>
              </a:pathLst>
            </a:custGeom>
            <a:solidFill>
              <a:srgbClr val="5AAEA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05388" cy="875457"/>
            </a:xfrm>
            <a:prstGeom prst="rect">
              <a:avLst/>
            </a:prstGeom>
          </p:spPr>
          <p:txBody>
            <a:bodyPr anchor="ctr" rtlCol="false" tIns="47447" lIns="47447" bIns="47447" rIns="47447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2700000">
            <a:off x="12138148" y="-3171287"/>
            <a:ext cx="5121259" cy="4801805"/>
            <a:chOff x="0" y="0"/>
            <a:chExt cx="816190" cy="76527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6190" cy="765277"/>
            </a:xfrm>
            <a:custGeom>
              <a:avLst/>
              <a:gdLst/>
              <a:ahLst/>
              <a:cxnLst/>
              <a:rect r="r" b="b" t="t" l="l"/>
              <a:pathLst>
                <a:path h="765277" w="816190">
                  <a:moveTo>
                    <a:pt x="148149" y="0"/>
                  </a:moveTo>
                  <a:lnTo>
                    <a:pt x="668041" y="0"/>
                  </a:lnTo>
                  <a:cubicBezTo>
                    <a:pt x="707332" y="0"/>
                    <a:pt x="745015" y="15608"/>
                    <a:pt x="772798" y="43392"/>
                  </a:cubicBezTo>
                  <a:cubicBezTo>
                    <a:pt x="800581" y="71175"/>
                    <a:pt x="816190" y="108857"/>
                    <a:pt x="816190" y="148149"/>
                  </a:cubicBezTo>
                  <a:lnTo>
                    <a:pt x="816190" y="617128"/>
                  </a:lnTo>
                  <a:cubicBezTo>
                    <a:pt x="816190" y="698949"/>
                    <a:pt x="749861" y="765277"/>
                    <a:pt x="668041" y="765277"/>
                  </a:cubicBezTo>
                  <a:lnTo>
                    <a:pt x="148149" y="765277"/>
                  </a:lnTo>
                  <a:cubicBezTo>
                    <a:pt x="108857" y="765277"/>
                    <a:pt x="71175" y="749669"/>
                    <a:pt x="43392" y="721885"/>
                  </a:cubicBezTo>
                  <a:cubicBezTo>
                    <a:pt x="15608" y="694102"/>
                    <a:pt x="0" y="656420"/>
                    <a:pt x="0" y="617128"/>
                  </a:cubicBezTo>
                  <a:lnTo>
                    <a:pt x="0" y="148149"/>
                  </a:lnTo>
                  <a:cubicBezTo>
                    <a:pt x="0" y="108857"/>
                    <a:pt x="15608" y="71175"/>
                    <a:pt x="43392" y="43392"/>
                  </a:cubicBezTo>
                  <a:cubicBezTo>
                    <a:pt x="71175" y="15608"/>
                    <a:pt x="108857" y="0"/>
                    <a:pt x="148149" y="0"/>
                  </a:cubicBezTo>
                  <a:close/>
                </a:path>
              </a:pathLst>
            </a:custGeom>
            <a:solidFill>
              <a:srgbClr val="5AAEA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16190" cy="803377"/>
            </a:xfrm>
            <a:prstGeom prst="rect">
              <a:avLst/>
            </a:prstGeom>
          </p:spPr>
          <p:txBody>
            <a:bodyPr anchor="ctr" rtlCol="false" tIns="41763" lIns="41763" bIns="41763" rIns="41763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2700000">
            <a:off x="12721785" y="-4941808"/>
            <a:ext cx="7737582" cy="7254927"/>
            <a:chOff x="0" y="0"/>
            <a:chExt cx="1233160" cy="115623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33160" cy="1156238"/>
            </a:xfrm>
            <a:custGeom>
              <a:avLst/>
              <a:gdLst/>
              <a:ahLst/>
              <a:cxnLst/>
              <a:rect r="r" b="b" t="t" l="l"/>
              <a:pathLst>
                <a:path h="1156238" w="1233160">
                  <a:moveTo>
                    <a:pt x="98055" y="0"/>
                  </a:moveTo>
                  <a:lnTo>
                    <a:pt x="1135105" y="0"/>
                  </a:lnTo>
                  <a:cubicBezTo>
                    <a:pt x="1189260" y="0"/>
                    <a:pt x="1233160" y="43901"/>
                    <a:pt x="1233160" y="98055"/>
                  </a:cubicBezTo>
                  <a:lnTo>
                    <a:pt x="1233160" y="1058183"/>
                  </a:lnTo>
                  <a:cubicBezTo>
                    <a:pt x="1233160" y="1084189"/>
                    <a:pt x="1222830" y="1109130"/>
                    <a:pt x="1204441" y="1127518"/>
                  </a:cubicBezTo>
                  <a:cubicBezTo>
                    <a:pt x="1186052" y="1145907"/>
                    <a:pt x="1161111" y="1156238"/>
                    <a:pt x="1135105" y="1156238"/>
                  </a:cubicBezTo>
                  <a:lnTo>
                    <a:pt x="98055" y="1156238"/>
                  </a:lnTo>
                  <a:cubicBezTo>
                    <a:pt x="43901" y="1156238"/>
                    <a:pt x="0" y="1112337"/>
                    <a:pt x="0" y="1058183"/>
                  </a:cubicBezTo>
                  <a:lnTo>
                    <a:pt x="0" y="98055"/>
                  </a:lnTo>
                  <a:cubicBezTo>
                    <a:pt x="0" y="72049"/>
                    <a:pt x="10331" y="47108"/>
                    <a:pt x="28720" y="28720"/>
                  </a:cubicBezTo>
                  <a:cubicBezTo>
                    <a:pt x="47108" y="10331"/>
                    <a:pt x="72049" y="0"/>
                    <a:pt x="98055" y="0"/>
                  </a:cubicBezTo>
                  <a:close/>
                </a:path>
              </a:pathLst>
            </a:custGeom>
            <a:solidFill>
              <a:srgbClr val="075B5E"/>
            </a:solidFill>
            <a:ln cap="rnd">
              <a:noFill/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233160" cy="1194338"/>
            </a:xfrm>
            <a:prstGeom prst="rect">
              <a:avLst/>
            </a:prstGeom>
          </p:spPr>
          <p:txBody>
            <a:bodyPr anchor="ctr" rtlCol="false" tIns="41763" lIns="41763" bIns="41763" rIns="41763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2" id="32"/>
          <p:cNvSpPr/>
          <p:nvPr/>
        </p:nvSpPr>
        <p:spPr>
          <a:xfrm flipV="true">
            <a:off x="16146353" y="-2503964"/>
            <a:ext cx="3774058" cy="3774058"/>
          </a:xfrm>
          <a:prstGeom prst="line">
            <a:avLst/>
          </a:prstGeom>
          <a:ln cap="flat" w="57150">
            <a:solidFill>
              <a:srgbClr val="5AAEAF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5681337" y="-1254100"/>
            <a:ext cx="3774058" cy="3774058"/>
          </a:xfrm>
          <a:prstGeom prst="line">
            <a:avLst/>
          </a:prstGeom>
          <a:ln cap="flat" w="57150">
            <a:solidFill>
              <a:srgbClr val="5AAEAF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1769509" y="1260569"/>
            <a:ext cx="10995905" cy="227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999"/>
              </a:lnSpc>
            </a:pPr>
            <a:r>
              <a:rPr lang="en-US" sz="7499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</a:rPr>
              <a:t>OBJECTIVE OF THE </a:t>
            </a:r>
          </a:p>
          <a:p>
            <a:pPr algn="just">
              <a:lnSpc>
                <a:spcPts val="8999"/>
              </a:lnSpc>
            </a:pPr>
            <a:r>
              <a:rPr lang="en-US" sz="7499">
                <a:solidFill>
                  <a:srgbClr val="075B5E"/>
                </a:solidFill>
                <a:latin typeface="Bernoru"/>
                <a:ea typeface="Bernoru"/>
                <a:cs typeface="Bernoru"/>
                <a:sym typeface="Bernoru"/>
              </a:rPr>
              <a:t>PROJECT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9509" y="4038132"/>
            <a:ext cx="7025091" cy="5220168"/>
            <a:chOff x="0" y="0"/>
            <a:chExt cx="1850230" cy="13748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0230" cy="1374859"/>
            </a:xfrm>
            <a:custGeom>
              <a:avLst/>
              <a:gdLst/>
              <a:ahLst/>
              <a:cxnLst/>
              <a:rect r="r" b="b" t="t" l="l"/>
              <a:pathLst>
                <a:path h="1374859" w="1850230">
                  <a:moveTo>
                    <a:pt x="31959" y="0"/>
                  </a:moveTo>
                  <a:lnTo>
                    <a:pt x="1818271" y="0"/>
                  </a:lnTo>
                  <a:cubicBezTo>
                    <a:pt x="1826747" y="0"/>
                    <a:pt x="1834876" y="3367"/>
                    <a:pt x="1840869" y="9361"/>
                  </a:cubicBezTo>
                  <a:cubicBezTo>
                    <a:pt x="1846863" y="15354"/>
                    <a:pt x="1850230" y="23483"/>
                    <a:pt x="1850230" y="31959"/>
                  </a:cubicBezTo>
                  <a:lnTo>
                    <a:pt x="1850230" y="1342900"/>
                  </a:lnTo>
                  <a:cubicBezTo>
                    <a:pt x="1850230" y="1351376"/>
                    <a:pt x="1846863" y="1359505"/>
                    <a:pt x="1840869" y="1365498"/>
                  </a:cubicBezTo>
                  <a:cubicBezTo>
                    <a:pt x="1834876" y="1371492"/>
                    <a:pt x="1826747" y="1374859"/>
                    <a:pt x="1818271" y="1374859"/>
                  </a:cubicBezTo>
                  <a:lnTo>
                    <a:pt x="31959" y="1374859"/>
                  </a:lnTo>
                  <a:cubicBezTo>
                    <a:pt x="23483" y="1374859"/>
                    <a:pt x="15354" y="1371492"/>
                    <a:pt x="9361" y="1365498"/>
                  </a:cubicBezTo>
                  <a:cubicBezTo>
                    <a:pt x="3367" y="1359505"/>
                    <a:pt x="0" y="1351376"/>
                    <a:pt x="0" y="1342900"/>
                  </a:cubicBezTo>
                  <a:lnTo>
                    <a:pt x="0" y="31959"/>
                  </a:lnTo>
                  <a:cubicBezTo>
                    <a:pt x="0" y="23483"/>
                    <a:pt x="3367" y="15354"/>
                    <a:pt x="9361" y="9361"/>
                  </a:cubicBezTo>
                  <a:cubicBezTo>
                    <a:pt x="15354" y="3367"/>
                    <a:pt x="23483" y="0"/>
                    <a:pt x="31959" y="0"/>
                  </a:cubicBezTo>
                  <a:close/>
                </a:path>
              </a:pathLst>
            </a:custGeom>
            <a:ln w="47625" cap="rnd">
              <a:solidFill>
                <a:srgbClr val="075B5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50230" cy="1412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69968" y="4923559"/>
            <a:ext cx="6276400" cy="245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2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100,000 candidates — impossible to revi</a:t>
            </a:r>
            <a:r>
              <a:rPr lang="en-US" sz="2499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ew manually</a:t>
            </a:r>
          </a:p>
          <a:p>
            <a:pPr algn="just" marL="539749" indent="-269875" lvl="1">
              <a:lnSpc>
                <a:spcPts val="32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Keyword matching misses hidden gems</a:t>
            </a:r>
          </a:p>
          <a:p>
            <a:pPr algn="just" marL="539749" indent="-269875" lvl="1">
              <a:lnSpc>
                <a:spcPts val="32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No way to detect fake/stuffed profiles</a:t>
            </a:r>
          </a:p>
          <a:p>
            <a:pPr algn="just" marL="539749" indent="-269875" lvl="1">
              <a:lnSpc>
                <a:spcPts val="32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Behavioral signals completely ignored</a:t>
            </a:r>
          </a:p>
          <a:p>
            <a:pPr algn="just" marL="0" indent="0" lvl="0">
              <a:lnSpc>
                <a:spcPts val="32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069968" y="4299930"/>
            <a:ext cx="649959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0"/>
              </a:lnSpc>
            </a:pPr>
            <a:r>
              <a:rPr lang="en-US" sz="3458" b="true">
                <a:solidFill>
                  <a:srgbClr val="075B5E"/>
                </a:solidFill>
                <a:latin typeface="Arimo Bold"/>
                <a:ea typeface="Arimo Bold"/>
                <a:cs typeface="Arimo Bold"/>
                <a:sym typeface="Arimo Bold"/>
              </a:rPr>
              <a:t>PROBLEM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2522198">
            <a:off x="9516195" y="-4519340"/>
            <a:ext cx="6677314" cy="7675074"/>
          </a:xfrm>
          <a:custGeom>
            <a:avLst/>
            <a:gdLst/>
            <a:ahLst/>
            <a:cxnLst/>
            <a:rect r="r" b="b" t="t" l="l"/>
            <a:pathLst>
              <a:path h="7675074" w="6677314">
                <a:moveTo>
                  <a:pt x="0" y="0"/>
                </a:moveTo>
                <a:lnTo>
                  <a:pt x="6677314" y="0"/>
                </a:lnTo>
                <a:lnTo>
                  <a:pt x="6677314" y="7675074"/>
                </a:lnTo>
                <a:lnTo>
                  <a:pt x="0" y="76750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442460">
            <a:off x="-6532504" y="3705078"/>
            <a:ext cx="7683897" cy="8832065"/>
          </a:xfrm>
          <a:custGeom>
            <a:avLst/>
            <a:gdLst/>
            <a:ahLst/>
            <a:cxnLst/>
            <a:rect r="r" b="b" t="t" l="l"/>
            <a:pathLst>
              <a:path h="8832065" w="7683897">
                <a:moveTo>
                  <a:pt x="0" y="0"/>
                </a:moveTo>
                <a:lnTo>
                  <a:pt x="7683896" y="0"/>
                </a:lnTo>
                <a:lnTo>
                  <a:pt x="7683896" y="8832065"/>
                </a:lnTo>
                <a:lnTo>
                  <a:pt x="0" y="88320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137475">
            <a:off x="15028999" y="7533380"/>
            <a:ext cx="7683897" cy="8832065"/>
          </a:xfrm>
          <a:custGeom>
            <a:avLst/>
            <a:gdLst/>
            <a:ahLst/>
            <a:cxnLst/>
            <a:rect r="r" b="b" t="t" l="l"/>
            <a:pathLst>
              <a:path h="8832065" w="7683897">
                <a:moveTo>
                  <a:pt x="0" y="0"/>
                </a:moveTo>
                <a:lnTo>
                  <a:pt x="7683897" y="0"/>
                </a:lnTo>
                <a:lnTo>
                  <a:pt x="7683897" y="8832066"/>
                </a:lnTo>
                <a:lnTo>
                  <a:pt x="0" y="88320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012337" y="4038132"/>
            <a:ext cx="7506154" cy="5220168"/>
            <a:chOff x="0" y="0"/>
            <a:chExt cx="1976930" cy="13748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76930" cy="1374859"/>
            </a:xfrm>
            <a:custGeom>
              <a:avLst/>
              <a:gdLst/>
              <a:ahLst/>
              <a:cxnLst/>
              <a:rect r="r" b="b" t="t" l="l"/>
              <a:pathLst>
                <a:path h="1374859" w="1976930">
                  <a:moveTo>
                    <a:pt x="29911" y="0"/>
                  </a:moveTo>
                  <a:lnTo>
                    <a:pt x="1947019" y="0"/>
                  </a:lnTo>
                  <a:cubicBezTo>
                    <a:pt x="1954952" y="0"/>
                    <a:pt x="1962559" y="3151"/>
                    <a:pt x="1968169" y="8761"/>
                  </a:cubicBezTo>
                  <a:cubicBezTo>
                    <a:pt x="1973778" y="14370"/>
                    <a:pt x="1976930" y="21978"/>
                    <a:pt x="1976930" y="29911"/>
                  </a:cubicBezTo>
                  <a:lnTo>
                    <a:pt x="1976930" y="1344948"/>
                  </a:lnTo>
                  <a:cubicBezTo>
                    <a:pt x="1976930" y="1352881"/>
                    <a:pt x="1973778" y="1360489"/>
                    <a:pt x="1968169" y="1366098"/>
                  </a:cubicBezTo>
                  <a:cubicBezTo>
                    <a:pt x="1962559" y="1371708"/>
                    <a:pt x="1954952" y="1374859"/>
                    <a:pt x="1947019" y="1374859"/>
                  </a:cubicBezTo>
                  <a:lnTo>
                    <a:pt x="29911" y="1374859"/>
                  </a:lnTo>
                  <a:cubicBezTo>
                    <a:pt x="21978" y="1374859"/>
                    <a:pt x="14370" y="1371708"/>
                    <a:pt x="8761" y="1366098"/>
                  </a:cubicBezTo>
                  <a:cubicBezTo>
                    <a:pt x="3151" y="1360489"/>
                    <a:pt x="0" y="1352881"/>
                    <a:pt x="0" y="1344948"/>
                  </a:cubicBezTo>
                  <a:lnTo>
                    <a:pt x="0" y="29911"/>
                  </a:lnTo>
                  <a:cubicBezTo>
                    <a:pt x="0" y="21978"/>
                    <a:pt x="3151" y="14370"/>
                    <a:pt x="8761" y="8761"/>
                  </a:cubicBezTo>
                  <a:cubicBezTo>
                    <a:pt x="14370" y="3151"/>
                    <a:pt x="21978" y="0"/>
                    <a:pt x="29911" y="0"/>
                  </a:cubicBezTo>
                  <a:close/>
                </a:path>
              </a:pathLst>
            </a:custGeom>
            <a:ln w="47625" cap="rnd">
              <a:solidFill>
                <a:srgbClr val="075B5E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76930" cy="1412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421261" y="4923559"/>
            <a:ext cx="6463033" cy="286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2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Basic cosine similarity → 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mis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ses context</a:t>
            </a:r>
          </a:p>
          <a:p>
            <a:pPr algn="just" marL="539749" indent="-269875" lvl="1">
              <a:lnSpc>
                <a:spcPts val="32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Pure embedding search → ignores experience</a:t>
            </a:r>
          </a:p>
          <a:p>
            <a:pPr algn="just" marL="539749" indent="-269875" lvl="1">
              <a:lnSpc>
                <a:spcPts val="32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TF-IDF → no fraud detection</a:t>
            </a:r>
          </a:p>
          <a:p>
            <a:pPr algn="just" marL="539749" indent="-269875" lvl="1">
              <a:lnSpc>
                <a:spcPts val="32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LangChain wrappers → too slow, needs API</a:t>
            </a:r>
          </a:p>
          <a:p>
            <a:pPr algn="just">
              <a:lnSpc>
                <a:spcPts val="329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421261" y="4299930"/>
            <a:ext cx="6852770" cy="543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0"/>
              </a:lnSpc>
            </a:pPr>
            <a:r>
              <a:rPr lang="en-US" sz="3458" b="true">
                <a:solidFill>
                  <a:srgbClr val="075B5E"/>
                </a:solidFill>
                <a:latin typeface="Arimo Bold"/>
                <a:ea typeface="Arimo Bold"/>
                <a:cs typeface="Arimo Bold"/>
                <a:sym typeface="Arimo Bold"/>
              </a:rPr>
              <a:t>PRIOR RESEARCH </a:t>
            </a:r>
          </a:p>
        </p:txBody>
      </p:sp>
      <p:grpSp>
        <p:nvGrpSpPr>
          <p:cNvPr name="Group 15" id="15"/>
          <p:cNvGrpSpPr/>
          <p:nvPr/>
        </p:nvGrpSpPr>
        <p:grpSpPr>
          <a:xfrm rot="-2700000">
            <a:off x="-3955171" y="9405417"/>
            <a:ext cx="7166904" cy="5969095"/>
            <a:chOff x="0" y="0"/>
            <a:chExt cx="1005388" cy="8373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5388" cy="837357"/>
            </a:xfrm>
            <a:custGeom>
              <a:avLst/>
              <a:gdLst/>
              <a:ahLst/>
              <a:cxnLst/>
              <a:rect r="r" b="b" t="t" l="l"/>
              <a:pathLst>
                <a:path h="837357" w="1005388">
                  <a:moveTo>
                    <a:pt x="105863" y="0"/>
                  </a:moveTo>
                  <a:lnTo>
                    <a:pt x="899525" y="0"/>
                  </a:lnTo>
                  <a:cubicBezTo>
                    <a:pt x="957992" y="0"/>
                    <a:pt x="1005388" y="47396"/>
                    <a:pt x="1005388" y="105863"/>
                  </a:cubicBezTo>
                  <a:lnTo>
                    <a:pt x="1005388" y="731494"/>
                  </a:lnTo>
                  <a:cubicBezTo>
                    <a:pt x="1005388" y="759571"/>
                    <a:pt x="994235" y="786498"/>
                    <a:pt x="974382" y="806351"/>
                  </a:cubicBezTo>
                  <a:cubicBezTo>
                    <a:pt x="954529" y="826204"/>
                    <a:pt x="927602" y="837357"/>
                    <a:pt x="899525" y="837357"/>
                  </a:cubicBezTo>
                  <a:lnTo>
                    <a:pt x="105863" y="837357"/>
                  </a:lnTo>
                  <a:cubicBezTo>
                    <a:pt x="47396" y="837357"/>
                    <a:pt x="0" y="789961"/>
                    <a:pt x="0" y="731494"/>
                  </a:cubicBezTo>
                  <a:lnTo>
                    <a:pt x="0" y="105863"/>
                  </a:lnTo>
                  <a:cubicBezTo>
                    <a:pt x="0" y="47396"/>
                    <a:pt x="47396" y="0"/>
                    <a:pt x="105863" y="0"/>
                  </a:cubicBezTo>
                  <a:close/>
                </a:path>
              </a:pathLst>
            </a:custGeom>
            <a:solidFill>
              <a:srgbClr val="075B5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05388" cy="875457"/>
            </a:xfrm>
            <a:prstGeom prst="rect">
              <a:avLst/>
            </a:prstGeom>
          </p:spPr>
          <p:txBody>
            <a:bodyPr anchor="ctr" rtlCol="false" tIns="47447" lIns="47447" bIns="47447" rIns="47447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2700000">
            <a:off x="-3450003" y="10262099"/>
            <a:ext cx="7166904" cy="5969095"/>
            <a:chOff x="0" y="0"/>
            <a:chExt cx="1005388" cy="83735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5388" cy="837357"/>
            </a:xfrm>
            <a:custGeom>
              <a:avLst/>
              <a:gdLst/>
              <a:ahLst/>
              <a:cxnLst/>
              <a:rect r="r" b="b" t="t" l="l"/>
              <a:pathLst>
                <a:path h="837357" w="1005388">
                  <a:moveTo>
                    <a:pt x="105863" y="0"/>
                  </a:moveTo>
                  <a:lnTo>
                    <a:pt x="899525" y="0"/>
                  </a:lnTo>
                  <a:cubicBezTo>
                    <a:pt x="957992" y="0"/>
                    <a:pt x="1005388" y="47396"/>
                    <a:pt x="1005388" y="105863"/>
                  </a:cubicBezTo>
                  <a:lnTo>
                    <a:pt x="1005388" y="731494"/>
                  </a:lnTo>
                  <a:cubicBezTo>
                    <a:pt x="1005388" y="759571"/>
                    <a:pt x="994235" y="786498"/>
                    <a:pt x="974382" y="806351"/>
                  </a:cubicBezTo>
                  <a:cubicBezTo>
                    <a:pt x="954529" y="826204"/>
                    <a:pt x="927602" y="837357"/>
                    <a:pt x="899525" y="837357"/>
                  </a:cubicBezTo>
                  <a:lnTo>
                    <a:pt x="105863" y="837357"/>
                  </a:lnTo>
                  <a:cubicBezTo>
                    <a:pt x="47396" y="837357"/>
                    <a:pt x="0" y="789961"/>
                    <a:pt x="0" y="731494"/>
                  </a:cubicBezTo>
                  <a:lnTo>
                    <a:pt x="0" y="105863"/>
                  </a:lnTo>
                  <a:cubicBezTo>
                    <a:pt x="0" y="47396"/>
                    <a:pt x="47396" y="0"/>
                    <a:pt x="105863" y="0"/>
                  </a:cubicBezTo>
                  <a:close/>
                </a:path>
              </a:pathLst>
            </a:custGeom>
            <a:solidFill>
              <a:srgbClr val="5AAEA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05388" cy="875457"/>
            </a:xfrm>
            <a:prstGeom prst="rect">
              <a:avLst/>
            </a:prstGeom>
          </p:spPr>
          <p:txBody>
            <a:bodyPr anchor="ctr" rtlCol="false" tIns="47447" lIns="47447" bIns="47447" rIns="47447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2700000">
            <a:off x="12138148" y="-3171287"/>
            <a:ext cx="5121259" cy="4801805"/>
            <a:chOff x="0" y="0"/>
            <a:chExt cx="816190" cy="76527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6190" cy="765277"/>
            </a:xfrm>
            <a:custGeom>
              <a:avLst/>
              <a:gdLst/>
              <a:ahLst/>
              <a:cxnLst/>
              <a:rect r="r" b="b" t="t" l="l"/>
              <a:pathLst>
                <a:path h="765277" w="816190">
                  <a:moveTo>
                    <a:pt x="148149" y="0"/>
                  </a:moveTo>
                  <a:lnTo>
                    <a:pt x="668041" y="0"/>
                  </a:lnTo>
                  <a:cubicBezTo>
                    <a:pt x="707332" y="0"/>
                    <a:pt x="745015" y="15608"/>
                    <a:pt x="772798" y="43392"/>
                  </a:cubicBezTo>
                  <a:cubicBezTo>
                    <a:pt x="800581" y="71175"/>
                    <a:pt x="816190" y="108857"/>
                    <a:pt x="816190" y="148149"/>
                  </a:cubicBezTo>
                  <a:lnTo>
                    <a:pt x="816190" y="617128"/>
                  </a:lnTo>
                  <a:cubicBezTo>
                    <a:pt x="816190" y="698949"/>
                    <a:pt x="749861" y="765277"/>
                    <a:pt x="668041" y="765277"/>
                  </a:cubicBezTo>
                  <a:lnTo>
                    <a:pt x="148149" y="765277"/>
                  </a:lnTo>
                  <a:cubicBezTo>
                    <a:pt x="108857" y="765277"/>
                    <a:pt x="71175" y="749669"/>
                    <a:pt x="43392" y="721885"/>
                  </a:cubicBezTo>
                  <a:cubicBezTo>
                    <a:pt x="15608" y="694102"/>
                    <a:pt x="0" y="656420"/>
                    <a:pt x="0" y="617128"/>
                  </a:cubicBezTo>
                  <a:lnTo>
                    <a:pt x="0" y="148149"/>
                  </a:lnTo>
                  <a:cubicBezTo>
                    <a:pt x="0" y="108857"/>
                    <a:pt x="15608" y="71175"/>
                    <a:pt x="43392" y="43392"/>
                  </a:cubicBezTo>
                  <a:cubicBezTo>
                    <a:pt x="71175" y="15608"/>
                    <a:pt x="108857" y="0"/>
                    <a:pt x="148149" y="0"/>
                  </a:cubicBezTo>
                  <a:close/>
                </a:path>
              </a:pathLst>
            </a:custGeom>
            <a:solidFill>
              <a:srgbClr val="5AAEA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16190" cy="803377"/>
            </a:xfrm>
            <a:prstGeom prst="rect">
              <a:avLst/>
            </a:prstGeom>
          </p:spPr>
          <p:txBody>
            <a:bodyPr anchor="ctr" rtlCol="false" tIns="41763" lIns="41763" bIns="41763" rIns="41763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2700000">
            <a:off x="12721785" y="-4941808"/>
            <a:ext cx="7737582" cy="7254927"/>
            <a:chOff x="0" y="0"/>
            <a:chExt cx="1233160" cy="11562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33160" cy="1156238"/>
            </a:xfrm>
            <a:custGeom>
              <a:avLst/>
              <a:gdLst/>
              <a:ahLst/>
              <a:cxnLst/>
              <a:rect r="r" b="b" t="t" l="l"/>
              <a:pathLst>
                <a:path h="1156238" w="1233160">
                  <a:moveTo>
                    <a:pt x="98055" y="0"/>
                  </a:moveTo>
                  <a:lnTo>
                    <a:pt x="1135105" y="0"/>
                  </a:lnTo>
                  <a:cubicBezTo>
                    <a:pt x="1189260" y="0"/>
                    <a:pt x="1233160" y="43901"/>
                    <a:pt x="1233160" y="98055"/>
                  </a:cubicBezTo>
                  <a:lnTo>
                    <a:pt x="1233160" y="1058183"/>
                  </a:lnTo>
                  <a:cubicBezTo>
                    <a:pt x="1233160" y="1084189"/>
                    <a:pt x="1222830" y="1109130"/>
                    <a:pt x="1204441" y="1127518"/>
                  </a:cubicBezTo>
                  <a:cubicBezTo>
                    <a:pt x="1186052" y="1145907"/>
                    <a:pt x="1161111" y="1156238"/>
                    <a:pt x="1135105" y="1156238"/>
                  </a:cubicBezTo>
                  <a:lnTo>
                    <a:pt x="98055" y="1156238"/>
                  </a:lnTo>
                  <a:cubicBezTo>
                    <a:pt x="43901" y="1156238"/>
                    <a:pt x="0" y="1112337"/>
                    <a:pt x="0" y="1058183"/>
                  </a:cubicBezTo>
                  <a:lnTo>
                    <a:pt x="0" y="98055"/>
                  </a:lnTo>
                  <a:cubicBezTo>
                    <a:pt x="0" y="72049"/>
                    <a:pt x="10331" y="47108"/>
                    <a:pt x="28720" y="28720"/>
                  </a:cubicBezTo>
                  <a:cubicBezTo>
                    <a:pt x="47108" y="10331"/>
                    <a:pt x="72049" y="0"/>
                    <a:pt x="98055" y="0"/>
                  </a:cubicBezTo>
                  <a:close/>
                </a:path>
              </a:pathLst>
            </a:custGeom>
            <a:solidFill>
              <a:srgbClr val="075B5E"/>
            </a:solidFill>
            <a:ln cap="rnd">
              <a:noFill/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233160" cy="1194338"/>
            </a:xfrm>
            <a:prstGeom prst="rect">
              <a:avLst/>
            </a:prstGeom>
          </p:spPr>
          <p:txBody>
            <a:bodyPr anchor="ctr" rtlCol="false" tIns="41763" lIns="41763" bIns="41763" rIns="41763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7" id="27"/>
          <p:cNvSpPr/>
          <p:nvPr/>
        </p:nvSpPr>
        <p:spPr>
          <a:xfrm flipV="true">
            <a:off x="16146353" y="-2503964"/>
            <a:ext cx="3774058" cy="3774058"/>
          </a:xfrm>
          <a:prstGeom prst="line">
            <a:avLst/>
          </a:prstGeom>
          <a:ln cap="flat" w="57150">
            <a:solidFill>
              <a:srgbClr val="5AAEAF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15681337" y="-1254100"/>
            <a:ext cx="3774058" cy="3774058"/>
          </a:xfrm>
          <a:prstGeom prst="line">
            <a:avLst/>
          </a:prstGeom>
          <a:ln cap="flat" w="57150">
            <a:solidFill>
              <a:srgbClr val="5AAEAF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769509" y="1260569"/>
            <a:ext cx="10995905" cy="227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999"/>
              </a:lnSpc>
            </a:pPr>
            <a:r>
              <a:rPr lang="en-US" sz="7499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</a:rPr>
              <a:t>PROBLEM AND PRIOR</a:t>
            </a:r>
          </a:p>
          <a:p>
            <a:pPr algn="just">
              <a:lnSpc>
                <a:spcPts val="8999"/>
              </a:lnSpc>
            </a:pPr>
            <a:r>
              <a:rPr lang="en-US" sz="7499">
                <a:solidFill>
                  <a:srgbClr val="075B5E"/>
                </a:solidFill>
                <a:latin typeface="Bernoru"/>
                <a:ea typeface="Bernoru"/>
                <a:cs typeface="Bernoru"/>
                <a:sym typeface="Bernoru"/>
              </a:rPr>
              <a:t>RESEARCH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339583">
            <a:off x="15775195" y="7202693"/>
            <a:ext cx="7699420" cy="8849908"/>
          </a:xfrm>
          <a:custGeom>
            <a:avLst/>
            <a:gdLst/>
            <a:ahLst/>
            <a:cxnLst/>
            <a:rect r="r" b="b" t="t" l="l"/>
            <a:pathLst>
              <a:path h="8849908" w="7699420">
                <a:moveTo>
                  <a:pt x="0" y="0"/>
                </a:moveTo>
                <a:lnTo>
                  <a:pt x="7699420" y="0"/>
                </a:lnTo>
                <a:lnTo>
                  <a:pt x="7699420" y="8849908"/>
                </a:lnTo>
                <a:lnTo>
                  <a:pt x="0" y="8849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41716" y="4653256"/>
            <a:ext cx="1173738" cy="1916664"/>
            <a:chOff x="0" y="0"/>
            <a:chExt cx="812800" cy="13272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1327267"/>
            </a:xfrm>
            <a:custGeom>
              <a:avLst/>
              <a:gdLst/>
              <a:ahLst/>
              <a:cxnLst/>
              <a:rect r="r" b="b" t="t" l="l"/>
              <a:pathLst>
                <a:path h="1327267" w="812800">
                  <a:moveTo>
                    <a:pt x="406400" y="1327267"/>
                  </a:moveTo>
                  <a:lnTo>
                    <a:pt x="0" y="920867"/>
                  </a:lnTo>
                  <a:lnTo>
                    <a:pt x="203200" y="920867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920867"/>
                  </a:lnTo>
                  <a:lnTo>
                    <a:pt x="812800" y="920867"/>
                  </a:lnTo>
                  <a:lnTo>
                    <a:pt x="406400" y="1327267"/>
                  </a:lnTo>
                  <a:close/>
                </a:path>
              </a:pathLst>
            </a:custGeom>
            <a:solidFill>
              <a:srgbClr val="5AAEA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203200" y="-38100"/>
              <a:ext cx="406400" cy="1263767"/>
            </a:xfrm>
            <a:prstGeom prst="rect">
              <a:avLst/>
            </a:prstGeom>
          </p:spPr>
          <p:txBody>
            <a:bodyPr anchor="ctr" rtlCol="false" tIns="43779" lIns="43779" bIns="43779" rIns="43779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377629" y="3309675"/>
            <a:ext cx="2301913" cy="230191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AAEA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7350" lIns="37350" bIns="37350" rIns="3735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54859" y="3486905"/>
            <a:ext cx="1947453" cy="194745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5B5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7350" lIns="37350" bIns="37350" rIns="3735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685326" y="4653256"/>
            <a:ext cx="1173738" cy="1916664"/>
            <a:chOff x="0" y="0"/>
            <a:chExt cx="812800" cy="13272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1327267"/>
            </a:xfrm>
            <a:custGeom>
              <a:avLst/>
              <a:gdLst/>
              <a:ahLst/>
              <a:cxnLst/>
              <a:rect r="r" b="b" t="t" l="l"/>
              <a:pathLst>
                <a:path h="1327267" w="812800">
                  <a:moveTo>
                    <a:pt x="406400" y="1327267"/>
                  </a:moveTo>
                  <a:lnTo>
                    <a:pt x="0" y="920867"/>
                  </a:lnTo>
                  <a:lnTo>
                    <a:pt x="203200" y="920867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920867"/>
                  </a:lnTo>
                  <a:lnTo>
                    <a:pt x="812800" y="920867"/>
                  </a:lnTo>
                  <a:lnTo>
                    <a:pt x="406400" y="1327267"/>
                  </a:lnTo>
                  <a:close/>
                </a:path>
              </a:pathLst>
            </a:custGeom>
            <a:solidFill>
              <a:srgbClr val="5AAEA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203200" y="-38100"/>
              <a:ext cx="406400" cy="1263767"/>
            </a:xfrm>
            <a:prstGeom prst="rect">
              <a:avLst/>
            </a:prstGeom>
          </p:spPr>
          <p:txBody>
            <a:bodyPr anchor="ctr" rtlCol="false" tIns="43779" lIns="43779" bIns="43779" rIns="43779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121239" y="3309675"/>
            <a:ext cx="2301913" cy="230191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AAEA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7350" lIns="37350" bIns="37350" rIns="3735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298469" y="3486905"/>
            <a:ext cx="1947453" cy="194745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5B5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7350" lIns="37350" bIns="37350" rIns="3735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428936" y="4653256"/>
            <a:ext cx="1173738" cy="1916664"/>
            <a:chOff x="0" y="0"/>
            <a:chExt cx="812800" cy="132726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1327267"/>
            </a:xfrm>
            <a:custGeom>
              <a:avLst/>
              <a:gdLst/>
              <a:ahLst/>
              <a:cxnLst/>
              <a:rect r="r" b="b" t="t" l="l"/>
              <a:pathLst>
                <a:path h="1327267" w="812800">
                  <a:moveTo>
                    <a:pt x="406400" y="1327267"/>
                  </a:moveTo>
                  <a:lnTo>
                    <a:pt x="0" y="920867"/>
                  </a:lnTo>
                  <a:lnTo>
                    <a:pt x="203200" y="920867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920867"/>
                  </a:lnTo>
                  <a:lnTo>
                    <a:pt x="812800" y="920867"/>
                  </a:lnTo>
                  <a:lnTo>
                    <a:pt x="406400" y="1327267"/>
                  </a:lnTo>
                  <a:close/>
                </a:path>
              </a:pathLst>
            </a:custGeom>
            <a:solidFill>
              <a:srgbClr val="5AAEA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203200" y="-38100"/>
              <a:ext cx="406400" cy="1263767"/>
            </a:xfrm>
            <a:prstGeom prst="rect">
              <a:avLst/>
            </a:prstGeom>
          </p:spPr>
          <p:txBody>
            <a:bodyPr anchor="ctr" rtlCol="false" tIns="43779" lIns="43779" bIns="43779" rIns="43779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864849" y="3309675"/>
            <a:ext cx="2301913" cy="2301913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AAEA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7350" lIns="37350" bIns="37350" rIns="3735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042079" y="3486905"/>
            <a:ext cx="1947453" cy="1947453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5B5E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7350" lIns="37350" bIns="37350" rIns="3735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172546" y="4653256"/>
            <a:ext cx="1173738" cy="1916664"/>
            <a:chOff x="0" y="0"/>
            <a:chExt cx="812800" cy="132726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1327267"/>
            </a:xfrm>
            <a:custGeom>
              <a:avLst/>
              <a:gdLst/>
              <a:ahLst/>
              <a:cxnLst/>
              <a:rect r="r" b="b" t="t" l="l"/>
              <a:pathLst>
                <a:path h="1327267" w="812800">
                  <a:moveTo>
                    <a:pt x="406400" y="1327267"/>
                  </a:moveTo>
                  <a:lnTo>
                    <a:pt x="0" y="920867"/>
                  </a:lnTo>
                  <a:lnTo>
                    <a:pt x="203200" y="920867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920867"/>
                  </a:lnTo>
                  <a:lnTo>
                    <a:pt x="812800" y="920867"/>
                  </a:lnTo>
                  <a:lnTo>
                    <a:pt x="406400" y="1327267"/>
                  </a:lnTo>
                  <a:close/>
                </a:path>
              </a:pathLst>
            </a:custGeom>
            <a:solidFill>
              <a:srgbClr val="5AAEA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203200" y="-38100"/>
              <a:ext cx="406400" cy="1263767"/>
            </a:xfrm>
            <a:prstGeom prst="rect">
              <a:avLst/>
            </a:prstGeom>
          </p:spPr>
          <p:txBody>
            <a:bodyPr anchor="ctr" rtlCol="false" tIns="43779" lIns="43779" bIns="43779" rIns="43779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608459" y="3309675"/>
            <a:ext cx="2301913" cy="2301913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AAEA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7350" lIns="37350" bIns="37350" rIns="3735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785689" y="3486905"/>
            <a:ext cx="1947453" cy="1947453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5B5E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7350" lIns="37350" bIns="37350" rIns="3735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3058908" y="3886981"/>
            <a:ext cx="939353" cy="1147302"/>
          </a:xfrm>
          <a:custGeom>
            <a:avLst/>
            <a:gdLst/>
            <a:ahLst/>
            <a:cxnLst/>
            <a:rect r="r" b="b" t="t" l="l"/>
            <a:pathLst>
              <a:path h="1147302" w="939353">
                <a:moveTo>
                  <a:pt x="0" y="0"/>
                </a:moveTo>
                <a:lnTo>
                  <a:pt x="939354" y="0"/>
                </a:lnTo>
                <a:lnTo>
                  <a:pt x="939354" y="1147302"/>
                </a:lnTo>
                <a:lnTo>
                  <a:pt x="0" y="11473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6784343" y="3972780"/>
            <a:ext cx="975703" cy="975703"/>
          </a:xfrm>
          <a:custGeom>
            <a:avLst/>
            <a:gdLst/>
            <a:ahLst/>
            <a:cxnLst/>
            <a:rect r="r" b="b" t="t" l="l"/>
            <a:pathLst>
              <a:path h="975703" w="975703">
                <a:moveTo>
                  <a:pt x="0" y="0"/>
                </a:moveTo>
                <a:lnTo>
                  <a:pt x="975704" y="0"/>
                </a:lnTo>
                <a:lnTo>
                  <a:pt x="975704" y="975703"/>
                </a:lnTo>
                <a:lnTo>
                  <a:pt x="0" y="9757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10521109" y="3996854"/>
            <a:ext cx="989392" cy="927555"/>
          </a:xfrm>
          <a:custGeom>
            <a:avLst/>
            <a:gdLst/>
            <a:ahLst/>
            <a:cxnLst/>
            <a:rect r="r" b="b" t="t" l="l"/>
            <a:pathLst>
              <a:path h="927555" w="989392">
                <a:moveTo>
                  <a:pt x="0" y="0"/>
                </a:moveTo>
                <a:lnTo>
                  <a:pt x="989392" y="0"/>
                </a:lnTo>
                <a:lnTo>
                  <a:pt x="989392" y="927555"/>
                </a:lnTo>
                <a:lnTo>
                  <a:pt x="0" y="927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2" id="42"/>
          <p:cNvSpPr/>
          <p:nvPr/>
        </p:nvSpPr>
        <p:spPr>
          <a:xfrm flipH="false" flipV="false" rot="0">
            <a:off x="14287448" y="3988664"/>
            <a:ext cx="943935" cy="943935"/>
          </a:xfrm>
          <a:custGeom>
            <a:avLst/>
            <a:gdLst/>
            <a:ahLst/>
            <a:cxnLst/>
            <a:rect r="r" b="b" t="t" l="l"/>
            <a:pathLst>
              <a:path h="943935" w="943935">
                <a:moveTo>
                  <a:pt x="0" y="0"/>
                </a:moveTo>
                <a:lnTo>
                  <a:pt x="943934" y="0"/>
                </a:lnTo>
                <a:lnTo>
                  <a:pt x="943934" y="943935"/>
                </a:lnTo>
                <a:lnTo>
                  <a:pt x="0" y="9439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3" id="43"/>
          <p:cNvSpPr txBox="true"/>
          <p:nvPr/>
        </p:nvSpPr>
        <p:spPr>
          <a:xfrm rot="0">
            <a:off x="2134593" y="7518022"/>
            <a:ext cx="3032479" cy="189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2755" indent="-206377" lvl="1">
              <a:lnSpc>
                <a:spcPts val="2523"/>
              </a:lnSpc>
              <a:buFont typeface="Arial"/>
              <a:buChar char="•"/>
            </a:pPr>
            <a:r>
              <a:rPr lang="en-US" sz="191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Skills weighted by proficiency AND duration</a:t>
            </a:r>
          </a:p>
          <a:p>
            <a:pPr algn="just" marL="412755" indent="-206377" lvl="1">
              <a:lnSpc>
                <a:spcPts val="2523"/>
              </a:lnSpc>
              <a:buFont typeface="Arial"/>
              <a:buChar char="•"/>
            </a:pPr>
            <a:r>
              <a:rPr lang="en-US" sz="191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Expert</a:t>
            </a:r>
            <a:r>
              <a:rPr lang="en-US" sz="191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+</a:t>
            </a:r>
            <a:r>
              <a:rPr lang="en-US" sz="191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1</a:t>
            </a:r>
            <a:r>
              <a:rPr lang="en-US" sz="191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month &lt; Inte</a:t>
            </a:r>
            <a:r>
              <a:rPr lang="en-US" sz="191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rmediate + 2 years</a:t>
            </a:r>
          </a:p>
          <a:p>
            <a:pPr algn="just">
              <a:lnSpc>
                <a:spcPts val="2523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5755955" y="7518022"/>
            <a:ext cx="3032479" cy="158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2755" indent="-206377" lvl="1">
              <a:lnSpc>
                <a:spcPts val="2523"/>
              </a:lnSpc>
              <a:buFont typeface="Arial"/>
              <a:buChar char="•"/>
            </a:pPr>
            <a:r>
              <a:rPr lang="en-US" sz="191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6 honeypot det</a:t>
            </a:r>
            <a:r>
              <a:rPr lang="en-US" sz="191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ection rules</a:t>
            </a:r>
          </a:p>
          <a:p>
            <a:pPr algn="l" marL="412755" indent="-206377" lvl="1">
              <a:lnSpc>
                <a:spcPts val="2523"/>
              </a:lnSpc>
              <a:buFont typeface="Arial"/>
              <a:buChar char="•"/>
            </a:pPr>
            <a:r>
              <a:rPr lang="en-US" sz="191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Keyword stuffer penalty up to −0.40</a:t>
            </a:r>
          </a:p>
          <a:p>
            <a:pPr algn="l">
              <a:lnSpc>
                <a:spcPts val="2523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1872049" y="6896254"/>
            <a:ext cx="3313071" cy="37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2"/>
              </a:lnSpc>
            </a:pPr>
            <a:r>
              <a:rPr lang="en-US" b="true" sz="2360">
                <a:solidFill>
                  <a:srgbClr val="075B5E"/>
                </a:solidFill>
                <a:latin typeface="Arimo Bold"/>
                <a:ea typeface="Arimo Bold"/>
                <a:cs typeface="Arimo Bold"/>
                <a:sym typeface="Arimo Bold"/>
              </a:rPr>
              <a:t>Skill De</a:t>
            </a:r>
            <a:r>
              <a:rPr lang="en-US" b="true" sz="2360">
                <a:solidFill>
                  <a:srgbClr val="075B5E"/>
                </a:solidFill>
                <a:latin typeface="Arimo Bold"/>
                <a:ea typeface="Arimo Bold"/>
                <a:cs typeface="Arimo Bold"/>
                <a:sym typeface="Arimo Bold"/>
              </a:rPr>
              <a:t>pth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615659" y="6896254"/>
            <a:ext cx="3313071" cy="37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2"/>
              </a:lnSpc>
            </a:pPr>
            <a:r>
              <a:rPr lang="en-US" b="true" sz="2360">
                <a:solidFill>
                  <a:srgbClr val="075B5E"/>
                </a:solidFill>
                <a:latin typeface="Arimo Bold"/>
                <a:ea typeface="Arimo Bold"/>
                <a:cs typeface="Arimo Bold"/>
                <a:sym typeface="Arimo Bold"/>
              </a:rPr>
              <a:t>Fraud</a:t>
            </a:r>
            <a:r>
              <a:rPr lang="en-US" b="true" sz="2360">
                <a:solidFill>
                  <a:srgbClr val="075B5E"/>
                </a:solidFill>
                <a:latin typeface="Arimo Bold"/>
                <a:ea typeface="Arimo Bold"/>
                <a:cs typeface="Arimo Bold"/>
                <a:sym typeface="Arimo Bold"/>
              </a:rPr>
              <a:t> Detection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359269" y="6896254"/>
            <a:ext cx="3743610" cy="37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2"/>
              </a:lnSpc>
            </a:pPr>
            <a:r>
              <a:rPr lang="en-US" b="true" sz="2360">
                <a:solidFill>
                  <a:srgbClr val="075B5E"/>
                </a:solidFill>
                <a:latin typeface="Arimo Bold"/>
                <a:ea typeface="Arimo Bold"/>
                <a:cs typeface="Arimo Bold"/>
                <a:sym typeface="Arimo Bold"/>
              </a:rPr>
              <a:t>Behavioral Signals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243175" y="6896254"/>
            <a:ext cx="3893124" cy="37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2"/>
              </a:lnSpc>
            </a:pPr>
            <a:r>
              <a:rPr lang="en-US" b="true" sz="2360">
                <a:solidFill>
                  <a:srgbClr val="075B5E"/>
                </a:solidFill>
                <a:latin typeface="Arimo Bold"/>
                <a:ea typeface="Arimo Bold"/>
                <a:cs typeface="Arimo Bold"/>
                <a:sym typeface="Arimo Bold"/>
              </a:rPr>
              <a:t>Ex</a:t>
            </a:r>
            <a:r>
              <a:rPr lang="en-US" b="true" sz="2360">
                <a:solidFill>
                  <a:srgbClr val="075B5E"/>
                </a:solidFill>
                <a:latin typeface="Arimo Bold"/>
                <a:ea typeface="Arimo Bold"/>
                <a:cs typeface="Arimo Bold"/>
                <a:sym typeface="Arimo Bold"/>
              </a:rPr>
              <a:t>plainability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864849" y="7518022"/>
            <a:ext cx="3032479" cy="126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2755" indent="-206377" lvl="1">
              <a:lnSpc>
                <a:spcPts val="2523"/>
              </a:lnSpc>
              <a:buFont typeface="Arial"/>
              <a:buChar char="•"/>
            </a:pPr>
            <a:r>
              <a:rPr lang="en-US" sz="191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23 redrob signals used</a:t>
            </a:r>
          </a:p>
          <a:p>
            <a:pPr algn="l" marL="412755" indent="-206377" lvl="1">
              <a:lnSpc>
                <a:spcPts val="2523"/>
              </a:lnSpc>
              <a:buFont typeface="Arial"/>
              <a:buChar char="•"/>
            </a:pPr>
            <a:r>
              <a:rPr lang="en-US" sz="191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Recruiter response rate, recency, GitHub</a:t>
            </a:r>
          </a:p>
          <a:p>
            <a:pPr algn="l" marL="0" indent="0" lvl="0">
              <a:lnSpc>
                <a:spcPts val="2523"/>
              </a:lnSpc>
            </a:pPr>
          </a:p>
        </p:txBody>
      </p:sp>
      <p:sp>
        <p:nvSpPr>
          <p:cNvPr name="TextBox 50" id="50"/>
          <p:cNvSpPr txBox="true"/>
          <p:nvPr/>
        </p:nvSpPr>
        <p:spPr>
          <a:xfrm rot="0">
            <a:off x="13672113" y="7518022"/>
            <a:ext cx="3348341" cy="158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2755" indent="-206377" lvl="1">
              <a:lnSpc>
                <a:spcPts val="2523"/>
              </a:lnSpc>
              <a:buFont typeface="Arial"/>
              <a:buChar char="•"/>
            </a:pPr>
            <a:r>
              <a:rPr lang="en-US" sz="191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Every candidate gets real reasoning</a:t>
            </a:r>
          </a:p>
          <a:p>
            <a:pPr algn="l" marL="412755" indent="-206377" lvl="1">
              <a:lnSpc>
                <a:spcPts val="2523"/>
              </a:lnSpc>
              <a:buFont typeface="Arial"/>
              <a:buChar char="•"/>
            </a:pPr>
            <a:r>
              <a:rPr lang="en-US" sz="191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Not "good candidate" — actual data points</a:t>
            </a:r>
          </a:p>
          <a:p>
            <a:pPr algn="l" marL="0" indent="0" lvl="0">
              <a:lnSpc>
                <a:spcPts val="2523"/>
              </a:lnSpc>
            </a:pPr>
          </a:p>
        </p:txBody>
      </p:sp>
      <p:sp>
        <p:nvSpPr>
          <p:cNvPr name="AutoShape 51" id="51"/>
          <p:cNvSpPr/>
          <p:nvPr/>
        </p:nvSpPr>
        <p:spPr>
          <a:xfrm>
            <a:off x="15642127" y="154432"/>
            <a:ext cx="4085794" cy="4085794"/>
          </a:xfrm>
          <a:prstGeom prst="line">
            <a:avLst/>
          </a:prstGeom>
          <a:ln cap="flat" w="57150">
            <a:solidFill>
              <a:srgbClr val="075B5E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>
            <a:off x="16996003" y="942955"/>
            <a:ext cx="4085794" cy="4085794"/>
          </a:xfrm>
          <a:prstGeom prst="line">
            <a:avLst/>
          </a:prstGeom>
          <a:ln cap="flat" w="57150">
            <a:solidFill>
              <a:srgbClr val="5AAEAF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Freeform 53" id="53"/>
          <p:cNvSpPr/>
          <p:nvPr/>
        </p:nvSpPr>
        <p:spPr>
          <a:xfrm flipH="false" flipV="false" rot="3744907">
            <a:off x="-2459426" y="-4403398"/>
            <a:ext cx="6308521" cy="7251174"/>
          </a:xfrm>
          <a:custGeom>
            <a:avLst/>
            <a:gdLst/>
            <a:ahLst/>
            <a:cxnLst/>
            <a:rect r="r" b="b" t="t" l="l"/>
            <a:pathLst>
              <a:path h="7251174" w="6308521">
                <a:moveTo>
                  <a:pt x="0" y="0"/>
                </a:moveTo>
                <a:lnTo>
                  <a:pt x="6308521" y="0"/>
                </a:lnTo>
                <a:lnTo>
                  <a:pt x="6308521" y="7251174"/>
                </a:lnTo>
                <a:lnTo>
                  <a:pt x="0" y="7251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-2700000">
            <a:off x="-2368860" y="-1716403"/>
            <a:ext cx="4191796" cy="3930320"/>
            <a:chOff x="0" y="0"/>
            <a:chExt cx="1233160" cy="115623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33160" cy="1156238"/>
            </a:xfrm>
            <a:custGeom>
              <a:avLst/>
              <a:gdLst/>
              <a:ahLst/>
              <a:cxnLst/>
              <a:rect r="r" b="b" t="t" l="l"/>
              <a:pathLst>
                <a:path h="1156238" w="1233160">
                  <a:moveTo>
                    <a:pt x="180998" y="0"/>
                  </a:moveTo>
                  <a:lnTo>
                    <a:pt x="1052162" y="0"/>
                  </a:lnTo>
                  <a:cubicBezTo>
                    <a:pt x="1152125" y="0"/>
                    <a:pt x="1233160" y="81036"/>
                    <a:pt x="1233160" y="180998"/>
                  </a:cubicBezTo>
                  <a:lnTo>
                    <a:pt x="1233160" y="975240"/>
                  </a:lnTo>
                  <a:cubicBezTo>
                    <a:pt x="1233160" y="1023244"/>
                    <a:pt x="1214091" y="1069281"/>
                    <a:pt x="1180147" y="1103225"/>
                  </a:cubicBezTo>
                  <a:cubicBezTo>
                    <a:pt x="1146203" y="1137169"/>
                    <a:pt x="1100166" y="1156238"/>
                    <a:pt x="1052162" y="1156238"/>
                  </a:cubicBezTo>
                  <a:lnTo>
                    <a:pt x="180998" y="1156238"/>
                  </a:lnTo>
                  <a:cubicBezTo>
                    <a:pt x="132995" y="1156238"/>
                    <a:pt x="86957" y="1137169"/>
                    <a:pt x="53013" y="1103225"/>
                  </a:cubicBezTo>
                  <a:cubicBezTo>
                    <a:pt x="19069" y="1069281"/>
                    <a:pt x="0" y="1023244"/>
                    <a:pt x="0" y="975240"/>
                  </a:cubicBezTo>
                  <a:lnTo>
                    <a:pt x="0" y="180998"/>
                  </a:lnTo>
                  <a:cubicBezTo>
                    <a:pt x="0" y="132995"/>
                    <a:pt x="19069" y="86957"/>
                    <a:pt x="53013" y="53013"/>
                  </a:cubicBezTo>
                  <a:cubicBezTo>
                    <a:pt x="86957" y="19069"/>
                    <a:pt x="132995" y="0"/>
                    <a:pt x="180998" y="0"/>
                  </a:cubicBezTo>
                  <a:close/>
                </a:path>
              </a:pathLst>
            </a:custGeom>
            <a:solidFill>
              <a:srgbClr val="075B5E"/>
            </a:solidFill>
            <a:ln cap="rnd">
              <a:noFill/>
              <a:prstDash val="solid"/>
              <a:round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233160" cy="1194338"/>
            </a:xfrm>
            <a:prstGeom prst="rect">
              <a:avLst/>
            </a:prstGeom>
          </p:spPr>
          <p:txBody>
            <a:bodyPr anchor="ctr" rtlCol="false" tIns="36137" lIns="36137" bIns="36137" rIns="36137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-2700000">
            <a:off x="-1522347" y="-2741917"/>
            <a:ext cx="4191796" cy="3930320"/>
            <a:chOff x="0" y="0"/>
            <a:chExt cx="1233160" cy="115623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33160" cy="1156238"/>
            </a:xfrm>
            <a:custGeom>
              <a:avLst/>
              <a:gdLst/>
              <a:ahLst/>
              <a:cxnLst/>
              <a:rect r="r" b="b" t="t" l="l"/>
              <a:pathLst>
                <a:path h="1156238" w="1233160">
                  <a:moveTo>
                    <a:pt x="180998" y="0"/>
                  </a:moveTo>
                  <a:lnTo>
                    <a:pt x="1052162" y="0"/>
                  </a:lnTo>
                  <a:cubicBezTo>
                    <a:pt x="1152125" y="0"/>
                    <a:pt x="1233160" y="81036"/>
                    <a:pt x="1233160" y="180998"/>
                  </a:cubicBezTo>
                  <a:lnTo>
                    <a:pt x="1233160" y="975240"/>
                  </a:lnTo>
                  <a:cubicBezTo>
                    <a:pt x="1233160" y="1023244"/>
                    <a:pt x="1214091" y="1069281"/>
                    <a:pt x="1180147" y="1103225"/>
                  </a:cubicBezTo>
                  <a:cubicBezTo>
                    <a:pt x="1146203" y="1137169"/>
                    <a:pt x="1100166" y="1156238"/>
                    <a:pt x="1052162" y="1156238"/>
                  </a:cubicBezTo>
                  <a:lnTo>
                    <a:pt x="180998" y="1156238"/>
                  </a:lnTo>
                  <a:cubicBezTo>
                    <a:pt x="132995" y="1156238"/>
                    <a:pt x="86957" y="1137169"/>
                    <a:pt x="53013" y="1103225"/>
                  </a:cubicBezTo>
                  <a:cubicBezTo>
                    <a:pt x="19069" y="1069281"/>
                    <a:pt x="0" y="1023244"/>
                    <a:pt x="0" y="975240"/>
                  </a:cubicBezTo>
                  <a:lnTo>
                    <a:pt x="0" y="180998"/>
                  </a:lnTo>
                  <a:cubicBezTo>
                    <a:pt x="0" y="132995"/>
                    <a:pt x="19069" y="86957"/>
                    <a:pt x="53013" y="53013"/>
                  </a:cubicBezTo>
                  <a:cubicBezTo>
                    <a:pt x="86957" y="19069"/>
                    <a:pt x="132995" y="0"/>
                    <a:pt x="180998" y="0"/>
                  </a:cubicBezTo>
                  <a:close/>
                </a:path>
              </a:pathLst>
            </a:custGeom>
            <a:solidFill>
              <a:srgbClr val="5AAEA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233160" cy="1194338"/>
            </a:xfrm>
            <a:prstGeom prst="rect">
              <a:avLst/>
            </a:prstGeom>
          </p:spPr>
          <p:txBody>
            <a:bodyPr anchor="ctr" rtlCol="false" tIns="36137" lIns="36137" bIns="36137" rIns="36137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2598640" y="747450"/>
            <a:ext cx="10814516" cy="227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999"/>
              </a:lnSpc>
            </a:pPr>
            <a:r>
              <a:rPr lang="en-US" sz="7499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</a:rPr>
              <a:t>ADDRESSING </a:t>
            </a:r>
            <a:r>
              <a:rPr lang="en-US" sz="7499">
                <a:solidFill>
                  <a:srgbClr val="075B5E"/>
                </a:solidFill>
                <a:latin typeface="Bernoru"/>
                <a:ea typeface="Bernoru"/>
                <a:cs typeface="Bernoru"/>
                <a:sym typeface="Bernoru"/>
              </a:rPr>
              <a:t>RESEARCH GAPS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94252" y="3576963"/>
            <a:ext cx="11635132" cy="4508614"/>
          </a:xfrm>
          <a:custGeom>
            <a:avLst/>
            <a:gdLst/>
            <a:ahLst/>
            <a:cxnLst/>
            <a:rect r="r" b="b" t="t" l="l"/>
            <a:pathLst>
              <a:path h="4508614" w="11635132">
                <a:moveTo>
                  <a:pt x="0" y="0"/>
                </a:moveTo>
                <a:lnTo>
                  <a:pt x="11635132" y="0"/>
                </a:lnTo>
                <a:lnTo>
                  <a:pt x="11635132" y="4508614"/>
                </a:lnTo>
                <a:lnTo>
                  <a:pt x="0" y="4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4101" y="3576963"/>
            <a:ext cx="3400151" cy="4508614"/>
          </a:xfrm>
          <a:custGeom>
            <a:avLst/>
            <a:gdLst/>
            <a:ahLst/>
            <a:cxnLst/>
            <a:rect r="r" b="b" t="t" l="l"/>
            <a:pathLst>
              <a:path h="4508614" w="3400151">
                <a:moveTo>
                  <a:pt x="0" y="0"/>
                </a:moveTo>
                <a:lnTo>
                  <a:pt x="3400151" y="0"/>
                </a:lnTo>
                <a:lnTo>
                  <a:pt x="3400151" y="4508614"/>
                </a:lnTo>
                <a:lnTo>
                  <a:pt x="0" y="4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42194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5400000">
            <a:off x="710734" y="5581182"/>
            <a:ext cx="571629" cy="500176"/>
            <a:chOff x="0" y="0"/>
            <a:chExt cx="812800" cy="711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1A5C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27000" y="2730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974908" y="3507192"/>
            <a:ext cx="1750695" cy="1750695"/>
          </a:xfrm>
          <a:custGeom>
            <a:avLst/>
            <a:gdLst/>
            <a:ahLst/>
            <a:cxnLst/>
            <a:rect r="r" b="b" t="t" l="l"/>
            <a:pathLst>
              <a:path h="1750695" w="1750695">
                <a:moveTo>
                  <a:pt x="0" y="0"/>
                </a:moveTo>
                <a:lnTo>
                  <a:pt x="1750695" y="0"/>
                </a:lnTo>
                <a:lnTo>
                  <a:pt x="1750695" y="1750695"/>
                </a:lnTo>
                <a:lnTo>
                  <a:pt x="0" y="1750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974908" y="3507192"/>
            <a:ext cx="1499627" cy="149962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2A4A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936218" y="6714728"/>
            <a:ext cx="1750695" cy="1750695"/>
          </a:xfrm>
          <a:custGeom>
            <a:avLst/>
            <a:gdLst/>
            <a:ahLst/>
            <a:cxnLst/>
            <a:rect r="r" b="b" t="t" l="l"/>
            <a:pathLst>
              <a:path h="1750695" w="1750695">
                <a:moveTo>
                  <a:pt x="0" y="0"/>
                </a:moveTo>
                <a:lnTo>
                  <a:pt x="1750695" y="0"/>
                </a:lnTo>
                <a:lnTo>
                  <a:pt x="1750695" y="1750695"/>
                </a:lnTo>
                <a:lnTo>
                  <a:pt x="0" y="1750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2" id="12"/>
          <p:cNvGrpSpPr/>
          <p:nvPr/>
        </p:nvGrpSpPr>
        <p:grpSpPr>
          <a:xfrm rot="0">
            <a:off x="4936218" y="6714728"/>
            <a:ext cx="1499627" cy="149962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A63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754326" y="6714728"/>
            <a:ext cx="1750946" cy="1750946"/>
          </a:xfrm>
          <a:custGeom>
            <a:avLst/>
            <a:gdLst/>
            <a:ahLst/>
            <a:cxnLst/>
            <a:rect r="r" b="b" t="t" l="l"/>
            <a:pathLst>
              <a:path h="1750946" w="1750946">
                <a:moveTo>
                  <a:pt x="0" y="0"/>
                </a:moveTo>
                <a:lnTo>
                  <a:pt x="1750945" y="0"/>
                </a:lnTo>
                <a:lnTo>
                  <a:pt x="1750945" y="1750945"/>
                </a:lnTo>
                <a:lnTo>
                  <a:pt x="0" y="17509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6" id="16"/>
          <p:cNvGrpSpPr/>
          <p:nvPr/>
        </p:nvGrpSpPr>
        <p:grpSpPr>
          <a:xfrm rot="0">
            <a:off x="10754326" y="6714728"/>
            <a:ext cx="1499627" cy="149962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4F86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834183" y="3507192"/>
            <a:ext cx="1750695" cy="1750695"/>
          </a:xfrm>
          <a:custGeom>
            <a:avLst/>
            <a:gdLst/>
            <a:ahLst/>
            <a:cxnLst/>
            <a:rect r="r" b="b" t="t" l="l"/>
            <a:pathLst>
              <a:path h="1750695" w="1750695">
                <a:moveTo>
                  <a:pt x="0" y="0"/>
                </a:moveTo>
                <a:lnTo>
                  <a:pt x="1750695" y="0"/>
                </a:lnTo>
                <a:lnTo>
                  <a:pt x="1750695" y="1750695"/>
                </a:lnTo>
                <a:lnTo>
                  <a:pt x="0" y="1750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5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7834183" y="3507192"/>
            <a:ext cx="1499627" cy="149962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497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3582940" y="3507192"/>
            <a:ext cx="1750695" cy="1750695"/>
          </a:xfrm>
          <a:custGeom>
            <a:avLst/>
            <a:gdLst/>
            <a:ahLst/>
            <a:cxnLst/>
            <a:rect r="r" b="b" t="t" l="l"/>
            <a:pathLst>
              <a:path h="1750695" w="1750695">
                <a:moveTo>
                  <a:pt x="0" y="0"/>
                </a:moveTo>
                <a:lnTo>
                  <a:pt x="1750695" y="0"/>
                </a:lnTo>
                <a:lnTo>
                  <a:pt x="1750695" y="1750695"/>
                </a:lnTo>
                <a:lnTo>
                  <a:pt x="0" y="1750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4" id="24"/>
          <p:cNvGrpSpPr/>
          <p:nvPr/>
        </p:nvGrpSpPr>
        <p:grpSpPr>
          <a:xfrm rot="0">
            <a:off x="13582940" y="3507192"/>
            <a:ext cx="1499627" cy="1499627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6F97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3994387" y="3808832"/>
            <a:ext cx="714732" cy="857250"/>
          </a:xfrm>
          <a:custGeom>
            <a:avLst/>
            <a:gdLst/>
            <a:ahLst/>
            <a:cxnLst/>
            <a:rect r="r" b="b" t="t" l="l"/>
            <a:pathLst>
              <a:path h="857250" w="714732">
                <a:moveTo>
                  <a:pt x="0" y="0"/>
                </a:moveTo>
                <a:lnTo>
                  <a:pt x="714732" y="0"/>
                </a:lnTo>
                <a:lnTo>
                  <a:pt x="714732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5242435" y="7035916"/>
            <a:ext cx="887193" cy="857250"/>
          </a:xfrm>
          <a:custGeom>
            <a:avLst/>
            <a:gdLst/>
            <a:ahLst/>
            <a:cxnLst/>
            <a:rect r="r" b="b" t="t" l="l"/>
            <a:pathLst>
              <a:path h="857250" w="887193">
                <a:moveTo>
                  <a:pt x="0" y="0"/>
                </a:moveTo>
                <a:lnTo>
                  <a:pt x="887193" y="0"/>
                </a:lnTo>
                <a:lnTo>
                  <a:pt x="887193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8148292" y="3808832"/>
            <a:ext cx="871410" cy="857250"/>
          </a:xfrm>
          <a:custGeom>
            <a:avLst/>
            <a:gdLst/>
            <a:ahLst/>
            <a:cxnLst/>
            <a:rect r="r" b="b" t="t" l="l"/>
            <a:pathLst>
              <a:path h="857250" w="871410">
                <a:moveTo>
                  <a:pt x="0" y="0"/>
                </a:moveTo>
                <a:lnTo>
                  <a:pt x="871410" y="0"/>
                </a:lnTo>
                <a:lnTo>
                  <a:pt x="87141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11068434" y="7035916"/>
            <a:ext cx="871410" cy="857250"/>
          </a:xfrm>
          <a:custGeom>
            <a:avLst/>
            <a:gdLst/>
            <a:ahLst/>
            <a:cxnLst/>
            <a:rect r="r" b="b" t="t" l="l"/>
            <a:pathLst>
              <a:path h="857250" w="871410">
                <a:moveTo>
                  <a:pt x="0" y="0"/>
                </a:moveTo>
                <a:lnTo>
                  <a:pt x="871410" y="0"/>
                </a:lnTo>
                <a:lnTo>
                  <a:pt x="87141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2372241" y="3884977"/>
            <a:ext cx="704961" cy="704961"/>
          </a:xfrm>
          <a:custGeom>
            <a:avLst/>
            <a:gdLst/>
            <a:ahLst/>
            <a:cxnLst/>
            <a:rect r="r" b="b" t="t" l="l"/>
            <a:pathLst>
              <a:path h="704961" w="704961">
                <a:moveTo>
                  <a:pt x="0" y="0"/>
                </a:moveTo>
                <a:lnTo>
                  <a:pt x="704961" y="0"/>
                </a:lnTo>
                <a:lnTo>
                  <a:pt x="704961" y="704961"/>
                </a:lnTo>
                <a:lnTo>
                  <a:pt x="0" y="70496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2" id="32"/>
          <p:cNvSpPr/>
          <p:nvPr/>
        </p:nvSpPr>
        <p:spPr>
          <a:xfrm flipH="false" flipV="false" rot="5400000">
            <a:off x="15693229" y="4790705"/>
            <a:ext cx="2315849" cy="2066605"/>
          </a:xfrm>
          <a:custGeom>
            <a:avLst/>
            <a:gdLst/>
            <a:ahLst/>
            <a:cxnLst/>
            <a:rect r="r" b="b" t="t" l="l"/>
            <a:pathLst>
              <a:path h="2066605" w="2315849">
                <a:moveTo>
                  <a:pt x="0" y="0"/>
                </a:moveTo>
                <a:lnTo>
                  <a:pt x="2315849" y="0"/>
                </a:lnTo>
                <a:lnTo>
                  <a:pt x="2315849" y="2066605"/>
                </a:lnTo>
                <a:lnTo>
                  <a:pt x="0" y="206660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-185115" t="0" r="-229775" b="-347888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16681721" y="5364042"/>
            <a:ext cx="338866" cy="316416"/>
          </a:xfrm>
          <a:custGeom>
            <a:avLst/>
            <a:gdLst/>
            <a:ahLst/>
            <a:cxnLst/>
            <a:rect r="r" b="b" t="t" l="l"/>
            <a:pathLst>
              <a:path h="316416" w="338866">
                <a:moveTo>
                  <a:pt x="0" y="0"/>
                </a:moveTo>
                <a:lnTo>
                  <a:pt x="338866" y="0"/>
                </a:lnTo>
                <a:lnTo>
                  <a:pt x="338866" y="316416"/>
                </a:lnTo>
                <a:lnTo>
                  <a:pt x="0" y="31641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326667" y="7115558"/>
            <a:ext cx="279611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</a:t>
            </a:r>
            <a:r>
              <a:rPr lang="en-US" sz="2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oad Data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918947" y="5623308"/>
            <a:ext cx="1750458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STEP 01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802057" y="5623308"/>
            <a:ext cx="1750458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STEP 02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391668" y="2832129"/>
            <a:ext cx="2588726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Honeypot Detection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231267" y="2832129"/>
            <a:ext cx="252457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Weighted Sc</a:t>
            </a:r>
            <a:r>
              <a:rPr lang="en-US" sz="2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oring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371720" y="7080690"/>
            <a:ext cx="2424553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Featur</a:t>
            </a:r>
            <a:r>
              <a:rPr lang="en-US" sz="2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 Extraction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196946" y="7115558"/>
            <a:ext cx="24245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Outpu</a:t>
            </a:r>
            <a:r>
              <a:rPr lang="en-US" sz="2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52862" y="7607048"/>
            <a:ext cx="338335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100K JSONL</a:t>
            </a:r>
            <a:r>
              <a:rPr lang="en-US" sz="1800">
                <a:solidFill>
                  <a:srgbClr val="000000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profiles, 487MB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391668" y="3703050"/>
            <a:ext cx="3375298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1800">
                <a:solidFill>
                  <a:srgbClr val="000000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emove ~80 fake profiles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31267" y="3350289"/>
            <a:ext cx="3295183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lang="en-US" sz="1800">
                <a:solidFill>
                  <a:srgbClr val="000000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ina</a:t>
            </a:r>
            <a:r>
              <a:rPr lang="en-US" sz="1800">
                <a:solidFill>
                  <a:srgbClr val="000000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l s</a:t>
            </a:r>
            <a:r>
              <a:rPr lang="en-US" sz="1800">
                <a:solidFill>
                  <a:srgbClr val="000000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core 0.0–1.0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371720" y="7991280"/>
            <a:ext cx="2940098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5 </a:t>
            </a:r>
            <a:r>
              <a:rPr lang="en-US" sz="1800">
                <a:solidFill>
                  <a:srgbClr val="000000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scores per candidate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467296" y="7607048"/>
            <a:ext cx="3244045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1800">
                <a:solidFill>
                  <a:srgbClr val="000000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op 100 CSV + reasoning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714564" y="5623308"/>
            <a:ext cx="1750458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STEP 03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618326" y="5623308"/>
            <a:ext cx="1750458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STEP 04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533993" y="5623308"/>
            <a:ext cx="1750458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STEP 05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-9502921">
            <a:off x="-119488" y="-640973"/>
            <a:ext cx="1452391" cy="1356171"/>
          </a:xfrm>
          <a:custGeom>
            <a:avLst/>
            <a:gdLst/>
            <a:ahLst/>
            <a:cxnLst/>
            <a:rect r="r" b="b" t="t" l="l"/>
            <a:pathLst>
              <a:path h="1356171" w="1452391">
                <a:moveTo>
                  <a:pt x="0" y="0"/>
                </a:moveTo>
                <a:lnTo>
                  <a:pt x="1452391" y="0"/>
                </a:lnTo>
                <a:lnTo>
                  <a:pt x="1452391" y="1356171"/>
                </a:lnTo>
                <a:lnTo>
                  <a:pt x="0" y="1356171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15000"/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17457368" y="9258300"/>
            <a:ext cx="1661265" cy="1447377"/>
          </a:xfrm>
          <a:custGeom>
            <a:avLst/>
            <a:gdLst/>
            <a:ahLst/>
            <a:cxnLst/>
            <a:rect r="r" b="b" t="t" l="l"/>
            <a:pathLst>
              <a:path h="1447377" w="1661265">
                <a:moveTo>
                  <a:pt x="0" y="0"/>
                </a:moveTo>
                <a:lnTo>
                  <a:pt x="1661264" y="0"/>
                </a:lnTo>
                <a:lnTo>
                  <a:pt x="1661264" y="1447377"/>
                </a:lnTo>
                <a:lnTo>
                  <a:pt x="0" y="1447377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alphaModFix amt="15000"/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1" id="51"/>
          <p:cNvSpPr txBox="true"/>
          <p:nvPr/>
        </p:nvSpPr>
        <p:spPr>
          <a:xfrm rot="0">
            <a:off x="1679978" y="393729"/>
            <a:ext cx="11383485" cy="227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999"/>
              </a:lnSpc>
            </a:pPr>
            <a:r>
              <a:rPr lang="en-US" sz="7499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</a:rPr>
              <a:t>PROJECT </a:t>
            </a:r>
            <a:r>
              <a:rPr lang="en-US" sz="7499">
                <a:solidFill>
                  <a:srgbClr val="075B5E"/>
                </a:solidFill>
                <a:latin typeface="Bernoru"/>
                <a:ea typeface="Bernoru"/>
                <a:cs typeface="Bernoru"/>
                <a:sym typeface="Bernoru"/>
              </a:rPr>
              <a:t>METHODOLOGY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2339583">
            <a:off x="-4167936" y="8096567"/>
            <a:ext cx="7699420" cy="8849908"/>
          </a:xfrm>
          <a:custGeom>
            <a:avLst/>
            <a:gdLst/>
            <a:ahLst/>
            <a:cxnLst/>
            <a:rect r="r" b="b" t="t" l="l"/>
            <a:pathLst>
              <a:path h="8849908" w="7699420">
                <a:moveTo>
                  <a:pt x="0" y="0"/>
                </a:moveTo>
                <a:lnTo>
                  <a:pt x="7699420" y="0"/>
                </a:lnTo>
                <a:lnTo>
                  <a:pt x="7699420" y="8849908"/>
                </a:lnTo>
                <a:lnTo>
                  <a:pt x="0" y="8849908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3" id="53"/>
          <p:cNvSpPr/>
          <p:nvPr/>
        </p:nvSpPr>
        <p:spPr>
          <a:xfrm>
            <a:off x="15642127" y="154432"/>
            <a:ext cx="4085794" cy="4085794"/>
          </a:xfrm>
          <a:prstGeom prst="line">
            <a:avLst/>
          </a:prstGeom>
          <a:ln cap="flat" w="57150">
            <a:solidFill>
              <a:srgbClr val="075B5E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>
            <a:off x="16996003" y="942955"/>
            <a:ext cx="4085794" cy="4085794"/>
          </a:xfrm>
          <a:prstGeom prst="line">
            <a:avLst/>
          </a:prstGeom>
          <a:ln cap="flat" w="57150">
            <a:solidFill>
              <a:srgbClr val="5AAEAF"/>
            </a:solidFill>
            <a:prstDash val="solid"/>
            <a:headEnd type="oval" len="lg" w="lg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4451" y="9853302"/>
            <a:ext cx="18747157" cy="607366"/>
            <a:chOff x="0" y="0"/>
            <a:chExt cx="4937523" cy="1599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7523" cy="159965"/>
            </a:xfrm>
            <a:custGeom>
              <a:avLst/>
              <a:gdLst/>
              <a:ahLst/>
              <a:cxnLst/>
              <a:rect r="r" b="b" t="t" l="l"/>
              <a:pathLst>
                <a:path h="159965" w="4937523">
                  <a:moveTo>
                    <a:pt x="0" y="0"/>
                  </a:moveTo>
                  <a:lnTo>
                    <a:pt x="4937523" y="0"/>
                  </a:lnTo>
                  <a:lnTo>
                    <a:pt x="4937523" y="159965"/>
                  </a:lnTo>
                  <a:lnTo>
                    <a:pt x="0" y="159965"/>
                  </a:lnTo>
                  <a:close/>
                </a:path>
              </a:pathLst>
            </a:custGeom>
            <a:solidFill>
              <a:srgbClr val="075B5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37523" cy="198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0">
            <a:off x="13990573" y="-98810"/>
            <a:ext cx="4401947" cy="4567520"/>
          </a:xfrm>
          <a:custGeom>
            <a:avLst/>
            <a:gdLst/>
            <a:ahLst/>
            <a:cxnLst/>
            <a:rect r="r" b="b" t="t" l="l"/>
            <a:pathLst>
              <a:path h="4567520" w="4401947">
                <a:moveTo>
                  <a:pt x="0" y="4567520"/>
                </a:moveTo>
                <a:lnTo>
                  <a:pt x="4401947" y="4567520"/>
                </a:lnTo>
                <a:lnTo>
                  <a:pt x="4401947" y="0"/>
                </a:lnTo>
                <a:lnTo>
                  <a:pt x="0" y="0"/>
                </a:lnTo>
                <a:lnTo>
                  <a:pt x="0" y="45675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187301" y="-98810"/>
            <a:ext cx="4401947" cy="4567520"/>
          </a:xfrm>
          <a:custGeom>
            <a:avLst/>
            <a:gdLst/>
            <a:ahLst/>
            <a:cxnLst/>
            <a:rect r="r" b="b" t="t" l="l"/>
            <a:pathLst>
              <a:path h="4567520" w="4401947">
                <a:moveTo>
                  <a:pt x="4401947" y="4567520"/>
                </a:moveTo>
                <a:lnTo>
                  <a:pt x="0" y="4567520"/>
                </a:lnTo>
                <a:lnTo>
                  <a:pt x="0" y="0"/>
                </a:lnTo>
                <a:lnTo>
                  <a:pt x="4401947" y="0"/>
                </a:lnTo>
                <a:lnTo>
                  <a:pt x="4401947" y="45675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068160" y="590087"/>
            <a:ext cx="12151680" cy="2457450"/>
            <a:chOff x="0" y="0"/>
            <a:chExt cx="16202240" cy="32766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2924064" y="-9525"/>
              <a:ext cx="10354112" cy="3286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719"/>
                </a:lnSpc>
              </a:pPr>
              <a:r>
                <a:rPr lang="en-US" sz="8099">
                  <a:solidFill>
                    <a:srgbClr val="000000"/>
                  </a:solidFill>
                  <a:latin typeface="Bernoru"/>
                  <a:ea typeface="Bernoru"/>
                  <a:cs typeface="Bernoru"/>
                  <a:sym typeface="Bernoru"/>
                </a:rPr>
                <a:t>DATASET</a:t>
              </a:r>
            </a:p>
            <a:p>
              <a:pPr algn="ctr">
                <a:lnSpc>
                  <a:spcPts val="9719"/>
                </a:lnSpc>
              </a:pPr>
              <a:r>
                <a:rPr lang="en-US" sz="8099">
                  <a:solidFill>
                    <a:srgbClr val="075B5E"/>
                  </a:solidFill>
                  <a:latin typeface="Bernoru"/>
                  <a:ea typeface="Bernoru"/>
                  <a:cs typeface="Bernoru"/>
                  <a:sym typeface="Bernoru"/>
                </a:rPr>
                <a:t> DESCRIPTION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0" y="965643"/>
              <a:ext cx="1985705" cy="672657"/>
            </a:xfrm>
            <a:custGeom>
              <a:avLst/>
              <a:gdLst/>
              <a:ahLst/>
              <a:cxnLst/>
              <a:rect r="r" b="b" t="t" l="l"/>
              <a:pathLst>
                <a:path h="672657" w="1985705">
                  <a:moveTo>
                    <a:pt x="0" y="0"/>
                  </a:moveTo>
                  <a:lnTo>
                    <a:pt x="1985705" y="0"/>
                  </a:lnTo>
                  <a:lnTo>
                    <a:pt x="1985705" y="672657"/>
                  </a:lnTo>
                  <a:lnTo>
                    <a:pt x="0" y="67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true" flipV="false" rot="0">
              <a:off x="14216536" y="965643"/>
              <a:ext cx="1985705" cy="672657"/>
            </a:xfrm>
            <a:custGeom>
              <a:avLst/>
              <a:gdLst/>
              <a:ahLst/>
              <a:cxnLst/>
              <a:rect r="r" b="b" t="t" l="l"/>
              <a:pathLst>
                <a:path h="672657" w="1985705">
                  <a:moveTo>
                    <a:pt x="1985704" y="0"/>
                  </a:moveTo>
                  <a:lnTo>
                    <a:pt x="0" y="0"/>
                  </a:lnTo>
                  <a:lnTo>
                    <a:pt x="0" y="672657"/>
                  </a:lnTo>
                  <a:lnTo>
                    <a:pt x="1985704" y="672657"/>
                  </a:lnTo>
                  <a:lnTo>
                    <a:pt x="1985704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220584" y="3413675"/>
            <a:ext cx="11681154" cy="6285291"/>
            <a:chOff x="0" y="0"/>
            <a:chExt cx="3076518" cy="165538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76518" cy="1655385"/>
            </a:xfrm>
            <a:custGeom>
              <a:avLst/>
              <a:gdLst/>
              <a:ahLst/>
              <a:cxnLst/>
              <a:rect r="r" b="b" t="t" l="l"/>
              <a:pathLst>
                <a:path h="1655385" w="3076518">
                  <a:moveTo>
                    <a:pt x="9942" y="0"/>
                  </a:moveTo>
                  <a:lnTo>
                    <a:pt x="3066576" y="0"/>
                  </a:lnTo>
                  <a:cubicBezTo>
                    <a:pt x="3069213" y="0"/>
                    <a:pt x="3071742" y="1047"/>
                    <a:pt x="3073606" y="2912"/>
                  </a:cubicBezTo>
                  <a:cubicBezTo>
                    <a:pt x="3075471" y="4776"/>
                    <a:pt x="3076518" y="7305"/>
                    <a:pt x="3076518" y="9942"/>
                  </a:cubicBezTo>
                  <a:lnTo>
                    <a:pt x="3076518" y="1645444"/>
                  </a:lnTo>
                  <a:cubicBezTo>
                    <a:pt x="3076518" y="1650935"/>
                    <a:pt x="3072067" y="1655385"/>
                    <a:pt x="3066576" y="1655385"/>
                  </a:cubicBezTo>
                  <a:lnTo>
                    <a:pt x="9942" y="1655385"/>
                  </a:lnTo>
                  <a:cubicBezTo>
                    <a:pt x="4451" y="1655385"/>
                    <a:pt x="0" y="1650935"/>
                    <a:pt x="0" y="1645444"/>
                  </a:cubicBezTo>
                  <a:lnTo>
                    <a:pt x="0" y="9942"/>
                  </a:lnTo>
                  <a:cubicBezTo>
                    <a:pt x="0" y="4451"/>
                    <a:pt x="4451" y="0"/>
                    <a:pt x="9942" y="0"/>
                  </a:cubicBezTo>
                  <a:close/>
                </a:path>
              </a:pathLst>
            </a:custGeom>
            <a:solidFill>
              <a:srgbClr val="5AAEA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076518" cy="1693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567027" y="3651195"/>
            <a:ext cx="10988268" cy="612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Dataset U</a:t>
            </a:r>
            <a:r>
              <a:rPr lang="en-US" sz="24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sed: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100,000 candida</a:t>
            </a:r>
            <a:r>
              <a:rPr lang="en-US" sz="2499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 profiles in JSONL format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Ea</a:t>
            </a:r>
            <a:r>
              <a:rPr lang="en-US" sz="2499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profile has: skill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s, career history, education,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red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rob signals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Profile Structure: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Skills — name, proficiency, duration_months, endorsements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reer History — company, title, description (free text)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Ed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ucation — institution, tier (Tier 1 to Tier 4), field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Redrob Signals — 23 behavioral fields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Key Numb</a:t>
            </a:r>
            <a:r>
              <a:rPr lang="en-US" sz="24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ers: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100,000 total candidates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~80 honeypots detec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ted and removed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99,920 clean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candidates scored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Top 100 selected for submission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DAHNe1gai38</dc:identifier>
  <dcterms:modified xsi:type="dcterms:W3CDTF">2011-08-01T06:04:30Z</dcterms:modified>
  <cp:revision>1</cp:revision>
  <dc:title>Intelligent_Candidate_Ranking_System_Madhav</dc:title>
</cp:coreProperties>
</file>